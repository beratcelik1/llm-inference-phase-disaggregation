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0800"/>
          </a:xfrm>
          <a:prstGeom prst="rect">
            <a:avLst/>
          </a:prstGeom>
          <a:solidFill>
            <a:srgbClr val="00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Phase Disaggregation for</a:t>
            </a:r>
          </a:p>
          <a:p>
            <a:pPr algn="ctr">
              <a:spcBef>
                <a:spcPts val="600"/>
              </a:spcBef>
              <a:defRPr sz="4400" b="1">
                <a:solidFill>
                  <a:srgbClr val="00D2D3"/>
                </a:solidFill>
                <a:latin typeface="Calibri"/>
              </a:defRPr>
            </a:pPr>
            <a:r>
              <a:t>LLM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9F43"/>
                </a:solidFill>
                <a:latin typeface="Calibri"/>
              </a:defRPr>
            </a:pPr>
            <a:r>
              <a:t>Splitwise  |  DistServe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ECE 5545: Machine Learning Hardware &amp; Systems</a:t>
            </a:r>
          </a:p>
          <a:p>
            <a:pPr algn="ctr">
              <a:spcBef>
                <a:spcPts val="1200"/>
              </a:spcBef>
              <a:defRPr sz="2200" b="1">
                <a:solidFill>
                  <a:srgbClr val="FFFFFF"/>
                </a:solidFill>
                <a:latin typeface="Calibri"/>
              </a:defRPr>
            </a:pPr>
            <a:r>
              <a:t>Berat Celik  &amp;  Jiayang (Ethan) Chen</a:t>
            </a:r>
          </a:p>
          <a:p>
            <a:pPr algn="ctr">
              <a:spcBef>
                <a:spcPts val="800"/>
              </a:spcBef>
              <a:defRPr sz="1800" b="0">
                <a:solidFill>
                  <a:srgbClr val="999999"/>
                </a:solidFill>
                <a:latin typeface="Calibri"/>
              </a:defRPr>
            </a:pPr>
            <a:r>
              <a:t>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Presentation Outline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5120640" cy="438912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D3"/>
                </a:solidFill>
                <a:latin typeface="Calibri"/>
              </a:defRPr>
            </a:pPr>
            <a:r>
              <a:t>Part 1 — Berat Celik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Background: LLM Inference &amp; Two Phases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The Problem: Why Colocation Fails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Splitwise: Production Trace Insights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Splitwise: Architecture &amp; Design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KV-Cache Transfer Optimization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Heterogeneous Cluster Designs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Evaluation &amp;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463040"/>
            <a:ext cx="5120640" cy="4389120"/>
          </a:xfrm>
          <a:prstGeom prst="rect">
            <a:avLst/>
          </a:prstGeom>
          <a:solidFill>
            <a:srgbClr val="3D0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9F43"/>
                </a:solidFill>
                <a:latin typeface="Calibri"/>
              </a:defRPr>
            </a:pPr>
            <a:r>
              <a:t>Part 2 — Ethan Chen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DistServe: Goodput Optimization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Tradeoff Analysis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Placement Algorithms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Online Scheduling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Evaluation &amp; Results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Comparison &amp; Discussion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Future Directions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Background: How LLM Inference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2286000"/>
          </a:xfrm>
          <a:prstGeom prst="rect">
            <a:avLst/>
          </a:prstGeom>
          <a:solidFill>
            <a:srgbClr val="15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D3"/>
                </a:solidFill>
                <a:latin typeface="Calibri"/>
              </a:defRPr>
            </a:pPr>
            <a:r>
              <a:t>Phase 1: Prefill (Prompt Computation)</a:t>
            </a:r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Process ALL input tokens in parallel</a:t>
            </a:r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Single forward pass → first output token</a:t>
            </a:r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Generates KV-cache for all input tokens</a:t>
            </a:r>
          </a:p>
          <a:p>
            <a:pPr>
              <a:spcBef>
                <a:spcPts val="400"/>
              </a:spcBef>
              <a:defRPr sz="1600" b="0">
                <a:solidFill>
                  <a:srgbClr val="10AC84"/>
                </a:solidFill>
                <a:latin typeface="Calibri"/>
              </a:defRPr>
            </a:pPr>
            <a:r>
              <a:t>Compute-bound: high arithmetic intensity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371600"/>
            <a:ext cx="5120640" cy="2286000"/>
          </a:xfrm>
          <a:prstGeom prst="rect">
            <a:avLst/>
          </a:prstGeom>
          <a:solidFill>
            <a:srgbClr val="501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46304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  <a:latin typeface="Calibri"/>
              </a:defRPr>
            </a:pPr>
            <a:r>
              <a:t>Phase 2: Decoding (Token Generation)</a:t>
            </a:r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Generate tokens ONE at a time</a:t>
            </a:r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Each step attends to all prior tokens via KV-cache</a:t>
            </a:r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Repeat until end-of-sequence</a:t>
            </a:r>
          </a:p>
          <a:p>
            <a:pPr>
              <a:spcBef>
                <a:spcPts val="400"/>
              </a:spcBef>
              <a:defRPr sz="1600" b="0">
                <a:solidFill>
                  <a:srgbClr val="EE5555"/>
                </a:solidFill>
                <a:latin typeface="Calibri"/>
              </a:defRPr>
            </a:pPr>
            <a:r>
              <a:t>Memory-bandwidth-bound: low arithmetic intensity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0233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CCCCC"/>
                </a:solidFill>
                <a:latin typeface="Calibri"/>
              </a:defRPr>
            </a:pPr>
            <a:r>
              <a:t>Example:  "Is tomato a fruit?"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→ [Prefill: 5 tokens in parallel] → "Yes" → [Decode] → "," → "it" → "is" → "." → [EOS]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KV-Cache: Key-Value tensors stored during prefill, read during every decode step.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999999"/>
                </a:solidFill>
                <a:latin typeface="Calibri"/>
              </a:defRPr>
            </a:pPr>
            <a:r>
              <a:t>Size grows with sequence length — this is what must transfer when phases are on different machines.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Two Phases, Fundamentally Different Characteristics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94183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4864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Property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Prefill (Prompt)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Decoding (Token Gen)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Bottleneck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Compute-bound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Memory bandwidth-bound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Tokens processed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All input (parallel)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1 per step (sequential)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GPU utilization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LOW (without batching)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Power draw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Near TDP (~700W H100)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Well below TDP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Key metric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TTFT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TPOT / TBT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Batching benefit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Limited (already saturated)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Large (improves utilization)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Ideal parallelism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Tensor (intra-op)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Pipeline (inter-op)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0AC84"/>
                </a:solidFill>
                <a:latin typeface="Calibri"/>
              </a:defRPr>
            </a:pPr>
            <a:r>
              <a:t>This asymmetry is the key insight behind both papers.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Key Performance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966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54864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Measures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TTFT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 to First Token (prefill latency)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User-perceived responsiveness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TBT / TPOT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 Between Tokens / Per Output Token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Streaming reading experience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E2E Latency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TTFT + TPOT × output_length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 wait time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Requests per second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System capacity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Goodput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Throughput under SLO constraints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 efficiency (DistServe's key metric)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SLO Attainment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requests meeting latency targets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Service quality guarantee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097280" y="5394960"/>
            <a:ext cx="9966960" cy="914400"/>
          </a:xfrm>
          <a:prstGeom prst="rect">
            <a:avLst/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54864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9F43"/>
                </a:solidFill>
                <a:latin typeface="Calibri"/>
              </a:defRPr>
            </a:pPr>
            <a:r>
              <a:t>SLO Example: "90% of chatbot requests must have TTFT &lt; 0.25s AND TPOT &lt; 0.1s"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EE5555"/>
                </a:solidFill>
                <a:latin typeface="Calibri"/>
              </a:defRPr>
            </a:pPr>
            <a:r>
              <a:t>The Problem: Why Colocating Phases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3840480"/>
          </a:xfrm>
          <a:prstGeom prst="rect">
            <a:avLst/>
          </a:prstGeom>
          <a:solidFill>
            <a:srgbClr val="50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E5555"/>
                </a:solidFill>
                <a:latin typeface="Calibri"/>
              </a:defRPr>
            </a:pPr>
            <a:r>
              <a:t>1. Prefill-Decode Interference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Adding 1 prefill to decode batch:</a:t>
            </a:r>
          </a:p>
          <a:p>
            <a:pPr lvl="1">
              <a:spcBef>
                <a:spcPts val="400"/>
              </a:spcBef>
              <a:defRPr sz="1400" b="0">
                <a:solidFill>
                  <a:srgbClr val="FF9F43"/>
                </a:solidFill>
                <a:latin typeface="Calibri"/>
              </a:defRPr>
            </a:pPr>
            <a:r>
              <a:t>Up to 3x slower (input=128)</a:t>
            </a:r>
          </a:p>
          <a:p>
            <a:pPr lvl="1">
              <a:spcBef>
                <a:spcPts val="400"/>
              </a:spcBef>
              <a:defRPr sz="1400" b="0">
                <a:solidFill>
                  <a:srgbClr val="FF9F43"/>
                </a:solidFill>
                <a:latin typeface="Calibri"/>
              </a:defRPr>
            </a:pPr>
            <a:r>
              <a:t>Up to 5x slower (input=1024)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Interference in both directions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999999"/>
                </a:solidFill>
                <a:latin typeface="Calibri"/>
              </a:defRPr>
            </a:pPr>
            <a:r>
              <a:t>[DistServe Figure 2]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3840480"/>
          </a:xfrm>
          <a:prstGeom prst="rect">
            <a:avLst/>
          </a:prstGeom>
          <a:solidFill>
            <a:srgbClr val="503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46304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43"/>
                </a:solidFill>
                <a:latin typeface="Calibri"/>
              </a:defRPr>
            </a:pPr>
            <a:r>
              <a:t>2. Resource &amp; Parallelism Coupling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Prefill wants tensor parallelism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Decode wants pipeline parallelism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Colocated = must pick ONE</a:t>
            </a:r>
          </a:p>
          <a:p>
            <a:pPr>
              <a:spcBef>
                <a:spcPts val="400"/>
              </a:spcBef>
              <a:defRPr sz="1400" b="0">
                <a:solidFill>
                  <a:srgbClr val="FF9F43"/>
                </a:solidFill>
                <a:latin typeface="Calibri"/>
              </a:defRPr>
            </a:pPr>
            <a:r>
              <a:t>Suboptimal for at least one 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3840480"/>
          </a:xfrm>
          <a:prstGeom prst="rect">
            <a:avLst/>
          </a:prstGeom>
          <a:solidFill>
            <a:srgbClr val="151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46304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B9FF"/>
                </a:solidFill>
                <a:latin typeface="Calibri"/>
              </a:defRPr>
            </a:pPr>
            <a:r>
              <a:t>3. Over-Provisioning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Must over-provision to meet both SLOs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Colocated: ~1.6 req/s (OPT-13B)</a:t>
            </a:r>
          </a:p>
          <a:p>
            <a:pPr>
              <a:spcBef>
                <a:spcPts val="400"/>
              </a:spcBef>
              <a:defRPr sz="1400" b="0">
                <a:solidFill>
                  <a:srgbClr val="10AC84"/>
                </a:solidFill>
                <a:latin typeface="Calibri"/>
              </a:defRPr>
            </a:pPr>
            <a:r>
              <a:t>Disaggregated: 3.3 req/s</a:t>
            </a:r>
          </a:p>
          <a:p>
            <a:pPr lvl="1">
              <a:spcBef>
                <a:spcPts val="400"/>
              </a:spcBef>
              <a:defRPr sz="1400" b="0">
                <a:solidFill>
                  <a:srgbClr val="10AC84"/>
                </a:solidFill>
                <a:latin typeface="Calibri"/>
              </a:defRPr>
            </a:pPr>
            <a:r>
              <a:t>= 2.1x improvement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486400"/>
            <a:ext cx="10698480" cy="914400"/>
          </a:xfrm>
          <a:prstGeom prst="rect">
            <a:avLst/>
          </a:prstGeom>
          <a:solidFill>
            <a:srgbClr val="10A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The Solution: Separate the phases onto different hardware entirely.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6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00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Splitwise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2D3"/>
                </a:solidFill>
                <a:latin typeface="Calibri"/>
              </a:defRPr>
            </a:pPr>
            <a:r>
              <a:t>Efficient Generative LLM Inference Using Phase Splitting</a:t>
            </a:r>
          </a:p>
          <a:p>
            <a:pPr algn="ctr">
              <a:spcBef>
                <a:spcPts val="1200"/>
              </a:spcBef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Patel et al., ISCA 2024  |  University of Washington + Microsoft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Splitwise: Production Trace Characterization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0D2D3"/>
                </a:solidFill>
                <a:latin typeface="Calibri"/>
              </a:defRPr>
            </a:pPr>
            <a:r>
              <a:t>Real Azure production traces from two LLM inference services (Nov 2023)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3474720" cy="32004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Insight I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Workloads vary widely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Coding: 1500 prompt, 13 output tokens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Conversation: 1020 prompt, 129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59" y="2011680"/>
            <a:ext cx="3474720" cy="32004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39" y="210312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Insight II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Token gen machines underutilized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60-70% of time running ≤20 active tokens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GPU resources wasted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2011680"/>
            <a:ext cx="3474720" cy="32004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210312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Insight III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FFFFFF"/>
                </a:solidFill>
                <a:latin typeface="Calibri"/>
              </a:defRPr>
            </a:pPr>
            <a:r>
              <a:t>Most E2E time in token gen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Even coding (1500 prompt, 6 output):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prompt ≈ token time on BLOOM-176B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[Reference: Splitwise Figures 3, 4 — Token distributions and batch utilization]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Splitwise: The Hardware Insight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28016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54864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A100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TTFT (Coding)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185 ms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 ms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0.51×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TBT (Coding)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52 ms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31 ms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0AC84"/>
                          </a:solidFill>
                          <a:latin typeface="Calibri"/>
                        </a:defRPr>
                      </a:pPr>
                      <a:r>
                        <a:t>0.70×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 per request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$0.42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$0.52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EE5555"/>
                          </a:solidFill>
                          <a:latin typeface="Calibri"/>
                        </a:defRPr>
                      </a:pPr>
                      <a:r>
                        <a:t>1.24×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1×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4206240"/>
            <a:ext cx="9418320" cy="137160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4297680"/>
            <a:ext cx="8869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Insight VII — The Key Insight: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Token generation barely benefits from H100's 3.43× compute advantage.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FF9F43"/>
                </a:solidFill>
                <a:latin typeface="Calibri"/>
              </a:defRPr>
            </a:pPr>
            <a:r>
              <a:t>A100 is more cost-efficient for token generation!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H100: 3.43× more compute, but memory bandwidth only 1.64× and capacity 1.0× (both 80GB)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999999"/>
                </a:solidFill>
                <a:latin typeface="Calibri"/>
              </a:defRPr>
            </a:pPr>
            <a:r>
              <a:t>[Reference: Splitwise Table I &amp; Table IV — A100 vs H100 specs and performance on Llama-70B]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Splitwise: Three Machine Pools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0" y="1188720"/>
            <a:ext cx="4572000" cy="73152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0" y="123444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Cluster-Level Scheduler (CLS)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3474720" cy="2286000"/>
          </a:xfrm>
          <a:prstGeom prst="rect">
            <a:avLst/>
          </a:prstGeom>
          <a:solidFill>
            <a:srgbClr val="15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D3"/>
                </a:solidFill>
                <a:latin typeface="Calibri"/>
              </a:defRPr>
            </a:pPr>
            <a:r>
              <a:t>Prompt Pool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Compute-optimized GPUs (H100s)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Dedicated to prefill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FCFS, batch ≤ 2048 tokens</a:t>
            </a:r>
          </a:p>
          <a:p>
            <a:pPr>
              <a:spcBef>
                <a:spcPts val="400"/>
              </a:spcBef>
              <a:defRPr sz="1400" b="0">
                <a:solidFill>
                  <a:srgbClr val="10AC84"/>
                </a:solidFill>
                <a:latin typeface="Calibri"/>
              </a:defRPr>
            </a:pPr>
            <a:r>
              <a:t>High compute utilization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926080"/>
            <a:ext cx="3383280" cy="548640"/>
          </a:xfrm>
          <a:prstGeom prst="rect">
            <a:avLst/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F43"/>
                </a:solidFill>
                <a:latin typeface="Calibri"/>
              </a:defRPr>
            </a:pPr>
            <a:r>
              <a:t>KV-Cache Transfer 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2377440"/>
            <a:ext cx="3474720" cy="2286000"/>
          </a:xfrm>
          <a:prstGeom prst="rect">
            <a:avLst/>
          </a:prstGeom>
          <a:solidFill>
            <a:srgbClr val="501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46888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  <a:latin typeface="Calibri"/>
              </a:defRPr>
            </a:pPr>
            <a:r>
              <a:t>Token Pool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Cost-efficient GPUs (A100s)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Dedicated to token generation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Continuous batching</a:t>
            </a:r>
          </a:p>
          <a:p>
            <a:pPr>
              <a:spcBef>
                <a:spcPts val="400"/>
              </a:spcBef>
              <a:defRPr sz="1400" b="0">
                <a:solidFill>
                  <a:srgbClr val="10AC84"/>
                </a:solidFill>
                <a:latin typeface="Calibri"/>
              </a:defRPr>
            </a:pPr>
            <a:r>
              <a:t>Memory-bandwidth focus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5029200"/>
            <a:ext cx="7040880" cy="1188720"/>
          </a:xfrm>
          <a:prstGeom prst="rect">
            <a:avLst/>
          </a:prstGeom>
          <a:solidFill>
            <a:srgbClr val="2A3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507492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AC84"/>
                </a:solidFill>
                <a:latin typeface="Calibri"/>
              </a:defRPr>
            </a:pPr>
            <a:r>
              <a:t>Mixed Pool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Flexible machines handling overflow from either pool  |  Dynamically repurposed  |  Mixed continuous batching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Splitwise: KV-Cache Transfer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50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E5555"/>
                </a:solidFill>
                <a:latin typeface="Calibri"/>
              </a:defRPr>
            </a:pPr>
            <a:r>
              <a:t>Naive: Serialized Transfer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Wait for full prefill to complete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Transfer entire KV-cache at once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Then start decoding</a:t>
            </a:r>
          </a:p>
          <a:p>
            <a:pPr>
              <a:spcBef>
                <a:spcPts val="400"/>
              </a:spcBef>
              <a:defRPr sz="1500" b="0">
                <a:solidFill>
                  <a:srgbClr val="EE5555"/>
                </a:solidFill>
                <a:latin typeface="Calibri"/>
              </a:defRPr>
            </a:pPr>
            <a:r>
              <a:t>64% overhead to 2nd token latency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371600"/>
            <a:ext cx="5120640" cy="2743200"/>
          </a:xfrm>
          <a:prstGeom prst="rect">
            <a:avLst/>
          </a:prstGeom>
          <a:solidFill>
            <a:srgbClr val="0A3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6304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AC84"/>
                </a:solidFill>
                <a:latin typeface="Calibri"/>
              </a:defRPr>
            </a:pPr>
            <a:r>
              <a:t>Optimized: Per-Layer Transfer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Send each layer's KV-cache immediately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Transfer overlaps with next layer computation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MSCCL++ zero-copy over InfiniBand</a:t>
            </a:r>
          </a:p>
          <a:p>
            <a:pPr>
              <a:spcBef>
                <a:spcPts val="400"/>
              </a:spcBef>
              <a:defRPr sz="1500" b="0">
                <a:solidFill>
                  <a:srgbClr val="10AC84"/>
                </a:solidFill>
                <a:latin typeface="Calibri"/>
              </a:defRPr>
            </a:pPr>
            <a:r>
              <a:t>Only 16.5% overhead to 2nd token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D3"/>
                </a:solidFill>
                <a:latin typeface="Calibri"/>
              </a:defRPr>
            </a:pPr>
            <a:r>
              <a:t>Result</a:t>
            </a:r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Per-layer: only 0.8% of E2E latency (constant ~5-8ms regardless of prompt size)</a:t>
            </a:r>
          </a:p>
          <a:p>
            <a:pPr>
              <a:spcBef>
                <a:spcPts val="400"/>
              </a:spcBef>
              <a:defRPr sz="1600" b="0">
                <a:solidFill>
                  <a:srgbClr val="CCCCCC"/>
                </a:solidFill>
                <a:latin typeface="Calibri"/>
              </a:defRPr>
            </a:pPr>
            <a:r>
              <a:t>Serialized: up to 3% of E2E for large prompts</a:t>
            </a:r>
          </a:p>
          <a:p>
            <a:pPr algn="l">
              <a:spcBef>
                <a:spcPts val="1200"/>
              </a:spcBef>
              <a:defRPr sz="1800" b="1">
                <a:solidFill>
                  <a:srgbClr val="10AC84"/>
                </a:solidFill>
                <a:latin typeface="Calibri"/>
              </a:defRPr>
            </a:pPr>
            <a:r>
              <a:t>KV-cache transfer is NOT the bottleneck on modern GPU clusters.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Splitwise: Heterogeneous Cluster Designs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9418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  <a:gridCol w="2354580"/>
                <a:gridCol w="2354580"/>
              </a:tblGrid>
              <a:tr h="51206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Design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Prompt Machine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Token Machine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Tradeoff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Splitwise-AA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Lowest cost, older GPUs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Splitwise-HH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raw performance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Splitwise-HA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of both worlds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Splitwise-HHcap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H100 @ 70% power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Power optimization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Splitwise: Evaluation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486400" cy="201168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D3"/>
                </a:solidFill>
                <a:latin typeface="Calibri"/>
              </a:defRPr>
            </a:pPr>
            <a:r>
              <a:t>Iso-Power Throughput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999999"/>
                </a:solidFill>
                <a:latin typeface="Calibri"/>
              </a:defRPr>
            </a:pPr>
            <a:r>
              <a:t>Same power budget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Splitwise-AA: 2.15× more throughput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vs Baseline-A100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59" y="1371600"/>
            <a:ext cx="5486400" cy="201168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39" y="14630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43"/>
                </a:solidFill>
                <a:latin typeface="Calibri"/>
              </a:defRPr>
            </a:pPr>
            <a:r>
              <a:t>Iso-Cost Throughput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999999"/>
                </a:solidFill>
                <a:latin typeface="Calibri"/>
              </a:defRPr>
            </a:pPr>
            <a:r>
              <a:t>Same cost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1.4× more throughput at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20% lower cost vs Baseline-H100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749039"/>
            <a:ext cx="5486400" cy="201168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40479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AC84"/>
                </a:solidFill>
                <a:latin typeface="Calibri"/>
              </a:defRPr>
            </a:pPr>
            <a:r>
              <a:t>Iso-Throughput Power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999999"/>
                </a:solidFill>
                <a:latin typeface="Calibri"/>
              </a:defRPr>
            </a:pPr>
            <a:r>
              <a:t>Same throughput target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Splitwise-HHcap: 25% lower power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vs Baseline-H100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3749039"/>
            <a:ext cx="5486400" cy="201168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39" y="3840479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B9FF"/>
                </a:solidFill>
                <a:latin typeface="Calibri"/>
              </a:defRPr>
            </a:pPr>
            <a:r>
              <a:t>Iso-Throughput Cost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999999"/>
                </a:solidFill>
                <a:latin typeface="Calibri"/>
              </a:defRPr>
            </a:pPr>
            <a:r>
              <a:t>Same throughput target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Splitwise-AA: 25% lower cost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vs Baseline-H100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715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AC84"/>
                </a:solidFill>
                <a:latin typeface="Calibri"/>
              </a:defRPr>
            </a:pPr>
            <a:r>
              <a:t>Overall: up to 1.4× throughput at 20% lower cost, or 2.35× throughput at same cost &amp; power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Splitwise: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1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1.  Characterized real production LLM workloads → 7 key insights about phase asymmetry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2.  Designed phase splitting architecture with three machine pools (prompt, token, mixed)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3.  Optimized KV-cache transfer with per-layer overlapping (&lt;1% of E2E overhead)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4.  Explored heterogeneous cluster designs (AA, HH, HA, HHcap)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5.  Achieved: 1.4× throughput at 20% lower cost, OR 2.35× throughput at same 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43"/>
                </a:solidFill>
                <a:latin typeface="Calibri"/>
              </a:defRPr>
            </a:pPr>
            <a:r>
              <a:t>Limitations:</a:t>
            </a:r>
          </a:p>
          <a:p>
            <a:pPr>
              <a:spcBef>
                <a:spcPts val="400"/>
              </a:spcBef>
              <a:defRPr sz="1500" b="0">
                <a:solidFill>
                  <a:srgbClr val="CCCCCC"/>
                </a:solidFill>
                <a:latin typeface="Calibri"/>
              </a:defRPr>
            </a:pPr>
            <a:r>
              <a:t>Requires careful cluster provisioning (but provides simulator)</a:t>
            </a:r>
          </a:p>
          <a:p>
            <a:pPr>
              <a:spcBef>
                <a:spcPts val="400"/>
              </a:spcBef>
              <a:defRPr sz="1500" b="0">
                <a:solidFill>
                  <a:srgbClr val="CCCCCC"/>
                </a:solidFill>
                <a:latin typeface="Calibri"/>
              </a:defRPr>
            </a:pPr>
            <a:r>
              <a:t>Less beneficial with very few GPUs  |  Basic fault tolerance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0800"/>
          </a:xfrm>
          <a:prstGeom prst="rect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DistServe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9F43"/>
                </a:solidFill>
                <a:latin typeface="Calibri"/>
              </a:defRPr>
            </a:pPr>
            <a:r>
              <a:t>Disaggregating Prefill and Decoding for Goodput-optimized LLM Serving</a:t>
            </a:r>
          </a:p>
          <a:p>
            <a:pPr algn="ctr">
              <a:spcBef>
                <a:spcPts val="1200"/>
              </a:spcBef>
              <a:defRPr sz="1800" b="0">
                <a:solidFill>
                  <a:srgbClr val="CCCCCC"/>
                </a:solidFill>
                <a:latin typeface="Calibri"/>
              </a:defRPr>
            </a:pPr>
            <a:r>
              <a:t>Zhong et al., OSDI 2024  |  Peking University + StepFun + UC San Diego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DistServe: Goodput as the Optimization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698480" cy="137160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9F43"/>
                </a:solidFill>
                <a:latin typeface="Calibri"/>
              </a:defRPr>
            </a:pPr>
            <a:r>
              <a:t>Per-GPU Goodput = Maximum request rate while meeting SLO attainment target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Higher goodput = lower cost per query = what production LLM services actually optimize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D3"/>
                </a:solidFill>
                <a:latin typeface="Calibri"/>
              </a:defRPr>
            </a:pPr>
            <a:r>
              <a:t>DistServe's Approach: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Disaggregate prefill and decoding onto separate GPU instances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Co-optimize resource allocation and parallelism for each phase independently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Automatically find the best placement on the physical cluster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Evaluate with SLO attainment as the primary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[DistServe Figure 1: disaggregated prefill-only and decode-only outperform colocated systems]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DistServe: Tradeoff Analysis (Post-Disaggregation)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3657600"/>
          </a:xfrm>
          <a:prstGeom prst="rect">
            <a:avLst/>
          </a:prstGeom>
          <a:solidFill>
            <a:srgbClr val="15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D3"/>
                </a:solidFill>
                <a:latin typeface="Calibri"/>
              </a:defRPr>
            </a:pPr>
            <a:r>
              <a:t>Prefill Instance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Modeled as M/D/1 queue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Avg TTFT = exec time + queuing delay</a:t>
            </a:r>
          </a:p>
          <a:p>
            <a:pPr>
              <a:spcBef>
                <a:spcPts val="400"/>
              </a:spcBef>
              <a:defRPr sz="1500" b="0">
                <a:solidFill>
                  <a:srgbClr val="10AC84"/>
                </a:solidFill>
                <a:latin typeface="Calibri"/>
              </a:defRPr>
            </a:pPr>
            <a:r>
              <a:t>Low arrival rates → intra-op parallelism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CCCCCC"/>
                </a:solidFill>
                <a:latin typeface="Calibri"/>
              </a:defRPr>
            </a:pPr>
            <a:r>
              <a:t>  (reduces execution time)</a:t>
            </a:r>
          </a:p>
          <a:p>
            <a:pPr>
              <a:spcBef>
                <a:spcPts val="400"/>
              </a:spcBef>
              <a:defRPr sz="1500" b="0">
                <a:solidFill>
                  <a:srgbClr val="FF9F43"/>
                </a:solidFill>
                <a:latin typeface="Calibri"/>
              </a:defRPr>
            </a:pPr>
            <a:r>
              <a:t>High arrival rates → inter-op parallelism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CCCCCC"/>
                </a:solidFill>
                <a:latin typeface="Calibri"/>
              </a:defRPr>
            </a:pPr>
            <a:r>
              <a:t>  (reduces queuing delay)</a:t>
            </a:r>
          </a:p>
          <a:p>
            <a:pPr algn="l">
              <a:spcBef>
                <a:spcPts val="1200"/>
              </a:spcBef>
              <a:defRPr sz="1200" b="0">
                <a:solidFill>
                  <a:srgbClr val="999999"/>
                </a:solidFill>
                <a:latin typeface="Calibri"/>
              </a:defRPr>
            </a:pPr>
            <a:r>
              <a:t>[Figure 4a: crossover at different rates]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371600"/>
            <a:ext cx="5120640" cy="3657600"/>
          </a:xfrm>
          <a:prstGeom prst="rect">
            <a:avLst/>
          </a:prstGeom>
          <a:solidFill>
            <a:srgbClr val="501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630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  <a:latin typeface="Calibri"/>
              </a:defRPr>
            </a:pPr>
            <a:r>
              <a:t>Decoding Instance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Memory-bandwidth-bound (single job)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Batching is CRITICAL for utilization</a:t>
            </a:r>
          </a:p>
          <a:p>
            <a:pPr>
              <a:spcBef>
                <a:spcPts val="400"/>
              </a:spcBef>
              <a:defRPr sz="1500" b="0">
                <a:solidFill>
                  <a:srgbClr val="10AC84"/>
                </a:solidFill>
                <a:latin typeface="Calibri"/>
              </a:defRPr>
            </a:pPr>
            <a:r>
              <a:t>Disaggregation → naturally larger batches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CCCCCC"/>
                </a:solidFill>
                <a:latin typeface="Calibri"/>
              </a:defRPr>
            </a:pPr>
            <a:r>
              <a:t>  (multiple prefill instances feed one decode)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Large batches → approaches compute-bound</a:t>
            </a:r>
          </a:p>
          <a:p>
            <a:pPr>
              <a:spcBef>
                <a:spcPts val="400"/>
              </a:spcBef>
              <a:defRPr sz="1500" b="0">
                <a:solidFill>
                  <a:srgbClr val="FF9F43"/>
                </a:solidFill>
                <a:latin typeface="Calibri"/>
              </a:defRPr>
            </a:pPr>
            <a:r>
              <a:t>Then parallelism optimization matters</a:t>
            </a:r>
          </a:p>
          <a:p>
            <a:pPr algn="l">
              <a:spcBef>
                <a:spcPts val="1200"/>
              </a:spcBef>
              <a:defRPr sz="1200" b="0">
                <a:solidFill>
                  <a:srgbClr val="999999"/>
                </a:solidFill>
                <a:latin typeface="Calibri"/>
              </a:defRPr>
            </a:pPr>
            <a:r>
              <a:t>[Figure 5: latency/throughput vs parallelism]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303520"/>
            <a:ext cx="10698480" cy="91440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0AC84"/>
                </a:solidFill>
                <a:latin typeface="Calibri"/>
              </a:defRPr>
            </a:pPr>
            <a:r>
              <a:t>Post-disaggregation: independent knobs per phase. Impossible when sharing GPUs.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DistServe: Placement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2D3"/>
                </a:solidFill>
                <a:latin typeface="Calibri"/>
              </a:defRPr>
            </a:pPr>
            <a:r>
              <a:t>Given: model, workload, SLOs, cluster  →  Find: parallelism + instance counts + placement  →  Goal: maximize per-GPU goodput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7432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D3"/>
                </a:solidFill>
                <a:latin typeface="Calibri"/>
              </a:defRPr>
            </a:pPr>
            <a:r>
              <a:t>Algorithm 1: High Node-Affinity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  <a:latin typeface="Calibri"/>
              </a:defRPr>
            </a:pPr>
            <a:r>
              <a:t>(InfiniBand clusters)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Enumerate all parallelism configs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Simulate each config's goodput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Pick best for each phase independently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Calculate replication for target rate</a:t>
            </a:r>
          </a:p>
          <a:p>
            <a:pPr>
              <a:spcBef>
                <a:spcPts val="400"/>
              </a:spcBef>
              <a:defRPr sz="1400" b="0">
                <a:solidFill>
                  <a:srgbClr val="10AC84"/>
                </a:solidFill>
                <a:latin typeface="Calibri"/>
              </a:defRPr>
            </a:pPr>
            <a:r>
              <a:t>Complexity: O(NM²), &lt; 1.3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011680"/>
            <a:ext cx="5120640" cy="27432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43"/>
                </a:solidFill>
                <a:latin typeface="Calibri"/>
              </a:defRPr>
            </a:pPr>
            <a:r>
              <a:t>Algorithm 2: Low Node-Affinity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  <a:latin typeface="Calibri"/>
              </a:defRPr>
            </a:pPr>
            <a:r>
              <a:t>(Limited cross-node bandwidth)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Constraint: prefill + decode same node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Use NVLINK for fast KV transfer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Co-optimize within node GPU budget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Group layers into co-located segments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029200"/>
            <a:ext cx="10698480" cy="118872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AC84"/>
                </a:solidFill>
                <a:latin typeface="Calibri"/>
              </a:defRPr>
            </a:pPr>
            <a:r>
              <a:t>Event-Driven Simulator: &lt; 2% error vs real system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Models FLOPs + memory accesses per phase  |  Fits distributions from historical traces  |  Enables design space exploration without hardware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DistServe: Evaluation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Setup: 4 nodes × 8 GPUs = 32 NVIDIA A100-80GB  |  Baselines: vLLM, DeepSpeed-MII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828800"/>
          <a:ext cx="9966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6400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Workload</a:t>
                      </a:r>
                    </a:p>
                  </a:txBody>
                  <a:tcPr>
                    <a:solidFill>
                      <a:srgbClr val="3D0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vLLM (Rate)</a:t>
                      </a:r>
                    </a:p>
                  </a:txBody>
                  <a:tcPr>
                    <a:solidFill>
                      <a:srgbClr val="3D0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vLLM (SLO)</a:t>
                      </a:r>
                    </a:p>
                  </a:txBody>
                  <a:tcPr>
                    <a:solidFill>
                      <a:srgbClr val="3D0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DeepSpeed-MII (Rate)</a:t>
                      </a:r>
                    </a:p>
                  </a:txBody>
                  <a:tcPr>
                    <a:solidFill>
                      <a:srgbClr val="3D0A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Chatbot (ShareGPT)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2.0× – 4.6× higher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1.8× – 3.2× tighter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AC84"/>
                          </a:solidFill>
                          <a:latin typeface="Calibri"/>
                        </a:defRPr>
                      </a:pPr>
                      <a:r>
                        <a:t>1.6× – 7.4× higher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Code Completion (HumanEval)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0AC84"/>
                          </a:solidFill>
                          <a:latin typeface="Calibri"/>
                        </a:defRPr>
                      </a:pPr>
                      <a:r>
                        <a:t>5.7× higher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1.4× tighter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1.6× higher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Summarization (LongBench)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4.3× higher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AC84"/>
                          </a:solidFill>
                          <a:latin typeface="Calibri"/>
                        </a:defRPr>
                      </a:pPr>
                      <a:r>
                        <a:t>12.6× tighter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1.8× higher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D3"/>
                </a:solidFill>
                <a:latin typeface="Calibri"/>
              </a:defRPr>
            </a:pPr>
            <a:r>
              <a:t>Parallelism strategies chosen by DistServe (different per phase!):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0" y="5029200"/>
          <a:ext cx="6675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040"/>
                <a:gridCol w="2225040"/>
                <a:gridCol w="2225040"/>
              </a:tblGrid>
              <a:tr h="3886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Prefill (TP, PP)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Decode (TP, PP)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OPT-13B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(2, 1)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(1, 1)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OPT-66B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(4, 1)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(2, 2)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OPT-175B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(3, 3)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(4, 3)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DistServe: Latency Breakdown &amp;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2286000"/>
          </a:xfrm>
          <a:prstGeom prst="rect">
            <a:avLst/>
          </a:prstGeom>
          <a:solidFill>
            <a:srgbClr val="0A3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AC84"/>
                </a:solidFill>
                <a:latin typeface="Calibri"/>
              </a:defRPr>
            </a:pPr>
            <a:r>
              <a:t>KV-Cache Transmission</a:t>
            </a:r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OPT-175B: &lt; 0.1% of total latency</a:t>
            </a:r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95% of requests: &lt; 30ms delay</a:t>
            </a:r>
          </a:p>
          <a:p>
            <a:pPr algn="l">
              <a:spcBef>
                <a:spcPts val="1200"/>
              </a:spcBef>
              <a:defRPr sz="1800" b="1">
                <a:solidFill>
                  <a:srgbClr val="10AC84"/>
                </a:solidFill>
                <a:latin typeface="Calibri"/>
              </a:defRPr>
            </a:pPr>
            <a:r>
              <a:t>Transmission is negligible.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Confirms Splitwise's findings independently.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371600"/>
            <a:ext cx="5120640" cy="22860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6304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43"/>
                </a:solidFill>
                <a:latin typeface="Calibri"/>
              </a:defRPr>
            </a:pPr>
            <a:r>
              <a:t>Ablation Study</a:t>
            </a:r>
          </a:p>
          <a:p>
            <a:pPr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vLLM++ (+ best parallelism search)</a:t>
            </a:r>
          </a:p>
          <a:p>
            <a:pPr>
              <a:spcBef>
                <a:spcPts val="400"/>
              </a:spcBef>
              <a:defRPr sz="1600" b="0">
                <a:solidFill>
                  <a:srgbClr val="EE5555"/>
                </a:solidFill>
                <a:latin typeface="Calibri"/>
              </a:defRPr>
            </a:pPr>
            <a:r>
              <a:t>= same performance as default vLLM!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CCCCC"/>
                </a:solidFill>
                <a:latin typeface="Calibri"/>
              </a:defRPr>
            </a:pPr>
            <a:r>
              <a:t>Interference prevents any parallelism gains when colocated.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10AC84"/>
                </a:solidFill>
                <a:latin typeface="Calibri"/>
              </a:defRPr>
            </a:pPr>
            <a:r>
              <a:t>Only disaggregation unlocks the benefit.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Splitwise vs DistServe: Complementary Approaches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188720"/>
          <a:ext cx="103327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240"/>
                <a:gridCol w="3444240"/>
                <a:gridCol w="3444240"/>
              </a:tblGrid>
              <a:tr h="508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Splitwise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DistServe</a:t>
                      </a:r>
                    </a:p>
                  </a:txBody>
                  <a:tcPr>
                    <a:solidFill>
                      <a:srgbClr val="0A3D6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Core focus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Heterogeneous hardware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Goodput optimization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Cluster type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Mixed GPU types (H100+A100)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Homogeneous (same GPUs)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Key innovation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Right hardware per phase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Right parallelism per phase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Target audience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Cloud providers (CSPs)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LLM service operators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KV-cache transfer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Per-layer overlapped (MSCCL++)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Pull-based on-demand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Formal analysis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Characterization-driven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Queueing theory-driven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Evaluation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Real A100+H100 + simulator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Real A100 + simulator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D2D3"/>
                          </a:solidFill>
                          <a:latin typeface="Calibri"/>
                        </a:defRPr>
                      </a:pPr>
                      <a:r>
                        <a:t>ISCA 2024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9F43"/>
                          </a:solidFill>
                          <a:latin typeface="Calibri"/>
                        </a:defRPr>
                      </a:pPr>
                      <a:r>
                        <a:t>OSDI 2024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AC84"/>
                </a:solidFill>
                <a:latin typeface="Calibri"/>
              </a:defRPr>
            </a:pPr>
            <a:r>
              <a:t>Splitwise: "Use the right hardware"  |  DistServe: "Use the right software config"  |  Best: combine both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Points of Consensus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Colocation of prefill and decoding is fundamentally flawed for SLO-sensitive workloads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KV-cache transfer overhead is negligible on modern GPU clusters (&lt;0.1% of E2E)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Each phase benefits from different resource allocation and parallelism strategies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Disaggregation enables 2-7× improvement in effective serving capacity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Applicable to ALL modern transformer-based LLMs (including MoE)</a:t>
            </a:r>
          </a:p>
          <a:p>
            <a:pPr>
              <a:spcBef>
                <a:spcPts val="400"/>
              </a:spcBef>
              <a:defRPr sz="1800" b="0">
                <a:solidFill>
                  <a:srgbClr val="FFFFFF"/>
                </a:solidFill>
                <a:latin typeface="Calibri"/>
              </a:defRPr>
            </a:pPr>
            <a:r>
              <a:t>Long context windows make disaggregation even more valuable (growing phase asymmetry)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Limitations &amp; Future Directions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2286000"/>
          </a:xfrm>
          <a:prstGeom prst="rect">
            <a:avLst/>
          </a:prstGeom>
          <a:solidFill>
            <a:srgbClr val="50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E5555"/>
                </a:solidFill>
                <a:latin typeface="Calibri"/>
              </a:defRPr>
            </a:pPr>
            <a:r>
              <a:t>Shared Limitations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Less beneficial with very few GPUs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Basic fault tolerance (restart on failure)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FCFS → convoy effect with mixed sizes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Batch/offline may prefer colocation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371600"/>
            <a:ext cx="5120640" cy="2286000"/>
          </a:xfrm>
          <a:prstGeom prst="rect">
            <a:avLst/>
          </a:prstGeom>
          <a:solidFill>
            <a:srgbClr val="0A3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6304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AC84"/>
                </a:solidFill>
                <a:latin typeface="Calibri"/>
              </a:defRPr>
            </a:pPr>
            <a:r>
              <a:t>Open Research Questions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Preemptive scheduling + disaggregation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Heterogeneous HW + optimized placement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Long-context (1M+ tokens) inference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MoE expert routing interaction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D3"/>
                </a:solidFill>
                <a:latin typeface="Calibri"/>
              </a:defRPr>
            </a:pPr>
            <a:r>
              <a:t>Industry Adoption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Already adopted by: SGLang, vLLM, Mooncake  |  Follow-up: PolyServe, DuetServe, NVIDIA Dynamo</a:t>
            </a:r>
          </a:p>
          <a:p>
            <a:pPr algn="l">
              <a:spcBef>
                <a:spcPts val="400"/>
              </a:spcBef>
              <a:defRPr sz="1600" b="1">
                <a:solidFill>
                  <a:srgbClr val="10AC84"/>
                </a:solidFill>
                <a:latin typeface="Calibri"/>
              </a:defRPr>
            </a:pPr>
            <a:r>
              <a:t>Phase disaggregation is becoming the standard architecture for LLM serving.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2286000"/>
          </a:xfrm>
          <a:prstGeom prst="rect">
            <a:avLst/>
          </a:prstGeom>
          <a:solidFill>
            <a:srgbClr val="15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D3"/>
                </a:solidFill>
                <a:latin typeface="Calibri"/>
              </a:defRPr>
            </a:pPr>
            <a:r>
              <a:t>Splitwise (ISCA 2024)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7 insights from production workloads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Heterogeneous hardware per phase</a:t>
            </a:r>
          </a:p>
          <a:p>
            <a:pPr>
              <a:spcBef>
                <a:spcPts val="400"/>
              </a:spcBef>
              <a:defRPr sz="1500" b="0">
                <a:solidFill>
                  <a:srgbClr val="10AC84"/>
                </a:solidFill>
                <a:latin typeface="Calibri"/>
              </a:defRPr>
            </a:pPr>
            <a:r>
              <a:t>1.4× throughput at 20% lower cost</a:t>
            </a:r>
          </a:p>
          <a:p>
            <a:pPr>
              <a:spcBef>
                <a:spcPts val="400"/>
              </a:spcBef>
              <a:defRPr sz="1500" b="0">
                <a:solidFill>
                  <a:srgbClr val="10AC84"/>
                </a:solidFill>
                <a:latin typeface="Calibri"/>
              </a:defRPr>
            </a:pPr>
            <a:r>
              <a:t>or 2.35× throughput, same power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371600"/>
            <a:ext cx="5120640" cy="2286000"/>
          </a:xfrm>
          <a:prstGeom prst="rect">
            <a:avLst/>
          </a:prstGeom>
          <a:solidFill>
            <a:srgbClr val="501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6304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  <a:latin typeface="Calibri"/>
              </a:defRPr>
            </a:pPr>
            <a:r>
              <a:t>DistServe (OSDI 2024)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Formalized goodput optimization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Automatic parallelism + placement</a:t>
            </a:r>
          </a:p>
          <a:p>
            <a:pPr>
              <a:spcBef>
                <a:spcPts val="400"/>
              </a:spcBef>
              <a:defRPr sz="1500" b="0">
                <a:solidFill>
                  <a:srgbClr val="10AC84"/>
                </a:solidFill>
                <a:latin typeface="Calibri"/>
              </a:defRPr>
            </a:pPr>
            <a:r>
              <a:t>Up to 7.4× higher request rate</a:t>
            </a:r>
          </a:p>
          <a:p>
            <a:pPr>
              <a:spcBef>
                <a:spcPts val="400"/>
              </a:spcBef>
              <a:defRPr sz="1500" b="0">
                <a:solidFill>
                  <a:srgbClr val="10AC84"/>
                </a:solidFill>
                <a:latin typeface="Calibri"/>
              </a:defRPr>
            </a:pPr>
            <a:r>
              <a:t>Up to 12.6× tighter SLO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The Big Picture</a:t>
            </a:r>
          </a:p>
          <a:p>
            <a:pPr algn="ctr">
              <a:spcBef>
                <a:spcPts val="800"/>
              </a:spcBef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Prefill and decoding are fundamentally different workloads.</a:t>
            </a:r>
          </a:p>
          <a:p>
            <a:pPr algn="ctr">
              <a:spcBef>
                <a:spcPts val="400"/>
              </a:spcBef>
              <a:defRPr sz="2000" b="1">
                <a:solidFill>
                  <a:srgbClr val="10AC84"/>
                </a:solidFill>
                <a:latin typeface="Calibri"/>
              </a:defRPr>
            </a:pPr>
            <a:r>
              <a:t>Treating them as one wastes hardware, power, and money. Disaggregation is the right abstraction.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50800"/>
          </a:xfrm>
          <a:prstGeom prst="rect">
            <a:avLst/>
          </a:prstGeom>
          <a:solidFill>
            <a:srgbClr val="00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D2D3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340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43"/>
                </a:solidFill>
                <a:latin typeface="Calibri"/>
              </a:defRPr>
            </a:pPr>
            <a:r>
              <a:t>Papers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CCCCC"/>
                </a:solidFill>
                <a:latin typeface="Calibri"/>
              </a:defRPr>
            </a:pPr>
            <a:r>
              <a:t>Splitwise: arXiv:2311.18677 (ISCA 2024)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CCCCCC"/>
                </a:solidFill>
                <a:latin typeface="Calibri"/>
              </a:defRPr>
            </a:pPr>
            <a:r>
              <a:t>DistServe: arXiv:2401.09670 (OSDI 2024)</a:t>
            </a:r>
          </a:p>
          <a:p>
            <a:pPr algn="l">
              <a:spcBef>
                <a:spcPts val="1600"/>
              </a:spcBef>
              <a:defRPr sz="12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Berat Celik  &amp;  Jiayang (Ethan) Chen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999999"/>
                </a:solidFill>
                <a:latin typeface="Calibri"/>
              </a:defRPr>
            </a:pPr>
            <a:r>
              <a:t>ECE 5545: ML Hardware &amp; Systems  |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