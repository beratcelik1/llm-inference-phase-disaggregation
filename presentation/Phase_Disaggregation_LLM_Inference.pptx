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9" r:id="rId22"/>
    <p:sldId id="276" r:id="rId23"/>
    <p:sldId id="277" r:id="rId24"/>
    <p:sldId id="278" r:id="rId25"/>
    <p:sldId id="279" r:id="rId26"/>
    <p:sldId id="280" r:id="rId27"/>
    <p:sldId id="281" r:id="rId28"/>
    <p:sldId id="284" r:id="rId29"/>
    <p:sldId id="287" r:id="rId30"/>
    <p:sldId id="28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0"/>
    <p:restoredTop sz="94643"/>
  </p:normalViewPr>
  <p:slideViewPr>
    <p:cSldViewPr snapToGrid="0" snapToObjects="1">
      <p:cViewPr>
        <p:scale>
          <a:sx n="132" d="100"/>
          <a:sy n="132" d="100"/>
        </p:scale>
        <p:origin x="-51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Palatino Linotype"/>
              </a:defRPr>
            </a:pPr>
            <a:r>
              <a:t>Phase Disaggregation for LLM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88AADD"/>
                </a:solidFill>
                <a:latin typeface="Palatino Linotype"/>
              </a:defRPr>
            </a:pPr>
            <a:r>
              <a:t>Splitwise  &amp;  DistServe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Palatino Linotype"/>
              </a:defRPr>
            </a:pPr>
            <a:r>
              <a:t>ECE 5545: Machine Learning Hardware &amp; Systems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  <a:latin typeface="Palatino Linotype"/>
              </a:defRPr>
            </a:pPr>
            <a:r>
              <a:t>Berat Celik  &amp;  Jiayang (Ethan) Chen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How LLM Inference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54480"/>
            <a:ext cx="475488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Palatino Linotype"/>
              </a:defRPr>
            </a:pPr>
            <a:r>
              <a:t>Phase 1: Prefill</a:t>
            </a:r>
          </a:p>
          <a:p>
            <a:pPr>
              <a:spcBef>
                <a:spcPts val="10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Processes all input tokens in parallel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One forward pass through the model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Produces the first output token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Generates the KV-cache (stored context)</a:t>
            </a:r>
          </a:p>
          <a:p>
            <a:pPr>
              <a:spcBef>
                <a:spcPts val="600"/>
              </a:spcBef>
              <a:defRPr sz="1600" b="1">
                <a:solidFill>
                  <a:srgbClr val="1A56DB"/>
                </a:solidFill>
                <a:latin typeface="Palatino Linotype"/>
              </a:defRPr>
            </a:pPr>
            <a:r>
              <a:t>Compute-bound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475488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6E6E"/>
                </a:solidFill>
                <a:latin typeface="Palatino Linotype"/>
              </a:defRPr>
            </a:pPr>
            <a:r>
              <a:t>Phase 2: Decoding</a:t>
            </a:r>
          </a:p>
          <a:p>
            <a:pPr>
              <a:spcBef>
                <a:spcPts val="10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Generates tokens one at a time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Each step reads the full KV-cache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Repeats until end of sequence</a:t>
            </a:r>
          </a:p>
          <a:p>
            <a:pPr>
              <a:spcBef>
                <a:spcPts val="6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Sequential, autoregressive</a:t>
            </a:r>
          </a:p>
          <a:p>
            <a:pPr>
              <a:spcBef>
                <a:spcPts val="600"/>
              </a:spcBef>
              <a:defRPr sz="1600" b="1">
                <a:solidFill>
                  <a:srgbClr val="0E6E6E"/>
                </a:solidFill>
                <a:latin typeface="Palatino Linotype"/>
              </a:defRPr>
            </a:pPr>
            <a:r>
              <a:t>Memory-bandwidth-bound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480560"/>
            <a:ext cx="100584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Palatino Linotype"/>
              </a:defRPr>
            </a:pPr>
            <a:r>
              <a:t>"Is tomato a fruit?"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t>Prefill: process 5 tokens at once, output "Yes"    Decode: generate  ","  "it"  "is"  "."  one by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alatino Linotype"/>
              </a:defRPr>
            </a:pPr>
            <a:r>
              <a:t>KV-Cache: key/value tensors stored during prefill, read at every decode step. This is what gets transferred when phases are on different machines.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Two Phases, Very Different Profiles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endParaRPr/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Prefill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Decoding</a:t>
                      </a:r>
                    </a:p>
                  </a:txBody>
                  <a:tcPr>
                    <a:solidFill>
                      <a:srgbClr val="0E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Compute-bound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Memory bandwidth-bound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Tokens per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All input tokens (parallel)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One token (sequential)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GPU utilization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Low without batching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Power draw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Near TDP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Well below TDP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Latency metric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TTFT (time to first token)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TPOT / TBT (time per token)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Batching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Limited benefit (already saturated)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Significant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Preferred parallelism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Tensor (intra-op)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Pipeline (inter-op)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This asymmetry is what motivates both papers.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TTFT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Time to first token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User-perceived responsiveness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TBT / TPOT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Time between output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Streaming reading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E2E Latency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TTFT + TPOT x output length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Total request 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Requests per second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System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Goodput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Throughput while meeting SLO targets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Cost efficiency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SLO Attainment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% of requests within latency bounds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Service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71600" y="5212080"/>
            <a:ext cx="94183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525780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Palatino Linotype"/>
              </a:defRPr>
            </a:pPr>
            <a:r>
              <a:t>Example SLO: "90% of requests must have TTFT &lt; 0.25s and TPOT &lt; 0.1s"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0392B"/>
                </a:solidFill>
                <a:latin typeface="Palatino Linotype"/>
              </a:defRPr>
            </a:pPr>
            <a:r>
              <a:t>The Problem with Colocation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Palatino Linotype"/>
              </a:defRPr>
            </a:pPr>
            <a:r>
              <a:t>Prefill/Decode Interference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One prefill in a decode batch: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  3x latency hit (input=128)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  5x latency hit (input=1024)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Goes both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55448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00600" y="1645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Palatino Linotype"/>
              </a:defRPr>
            </a:pPr>
            <a:r>
              <a:t>Parallelism Coupling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Prefill wants tensor parallelism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Decoding wants pipeline parallelism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Colocated: must pick one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One phase always loses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55448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645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Palatino Linotype"/>
              </a:defRPr>
            </a:pPr>
            <a:r>
              <a:t>Over-Provisioning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Must provision for worst case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Colocated: 1.6 req/s (OPT-13B)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Disaggregated: 3.3 req/s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2.1x wasted 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alatino Linotype"/>
              </a:defRPr>
            </a:pPr>
            <a:r>
              <a:t>Solution: put prefill and decoding on separate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Prefill-Decode Interference</a:t>
            </a:r>
          </a:p>
        </p:txBody>
      </p:sp>
      <p:pic>
        <p:nvPicPr>
          <p:cNvPr id="3" name="Picture 2" descr="ds_fig2_inter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4541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5688541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t>Source: Zhong et al., OSDI 2024, Figure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alatino Linotype"/>
              </a:defRPr>
            </a:pPr>
            <a:r>
              <a:t>Splitwise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AADD"/>
                </a:solidFill>
                <a:latin typeface="Palatino Linotype"/>
              </a:defRPr>
            </a:pPr>
            <a:r>
              <a:t>Efficient Generative LLM Inference Using Phase Splitting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Patel et al. | University of Washington + Microsoft | ISCA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688"/>
                </a:solidFill>
                <a:latin typeface="Palatino Linotype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Insights from Azure Production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Palatino Linotype"/>
              </a:defRPr>
            </a:pPr>
            <a:r>
              <a:t>Real traces from two Microsoft Azure LLM services (coding + conversation, Nov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69748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331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Palatino Linotype"/>
              </a:defRPr>
            </a:pPr>
            <a:r>
              <a:t>Insight I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1A"/>
                </a:solidFill>
                <a:latin typeface="Palatino Linotype"/>
              </a:defRPr>
            </a:pPr>
            <a:r>
              <a:t>Workloads vary widely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Coding: 1500 prompt tokens, 13 output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Conversation: 1020 prompt, 129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2011680"/>
            <a:ext cx="269748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19" y="2103120"/>
            <a:ext cx="2331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Palatino Linotype"/>
              </a:defRPr>
            </a:pPr>
            <a:r>
              <a:t>Insight II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1A"/>
                </a:solidFill>
                <a:latin typeface="Palatino Linotype"/>
              </a:defRPr>
            </a:pPr>
            <a:r>
              <a:t>Token generation underutilizes GPUs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60-70% of time spent with 20 or fewer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active tokens in the batch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269748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2331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Palatino Linotype"/>
              </a:defRPr>
            </a:pPr>
            <a:r>
              <a:t>Insight III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1A"/>
                </a:solidFill>
                <a:latin typeface="Palatino Linotype"/>
              </a:defRPr>
            </a:pPr>
            <a:r>
              <a:t>Most wall-clock time is in decoding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Even large prompts (1500 tokens) take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roughly the same time as 6 output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59" y="2011680"/>
            <a:ext cx="269748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64039" y="2103120"/>
            <a:ext cx="2331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Palatino Linotype"/>
              </a:defRPr>
            </a:pPr>
            <a:r>
              <a:t>Insight IV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1A"/>
                </a:solidFill>
                <a:latin typeface="Palatino Linotype"/>
              </a:defRPr>
            </a:pPr>
            <a:r>
              <a:t>Prompt batching saturates quickly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Throughput plateaus after ~2048 tokens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t>Token batching keeps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alatino Linotype"/>
              </a:defRPr>
            </a:pPr>
            <a:r>
              <a:t>Splitwise Figure 3-4, Table 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Azure Production Trace Distributions</a:t>
            </a:r>
          </a:p>
        </p:txBody>
      </p:sp>
      <p:pic>
        <p:nvPicPr>
          <p:cNvPr id="3" name="Picture 2" descr="sw_fig3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3926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516119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t>Source: Patel et al., ISCA 2024, Figure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The Hardware Insight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endParaRPr/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A100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H100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TTFT (coding)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185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95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8A4C"/>
                          </a:solidFill>
                          <a:latin typeface="Palatino Linotype"/>
                        </a:defRPr>
                      </a:pPr>
                      <a:r>
                        <a:t>0.51x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TBT (coding)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52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31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0.70x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Cost per request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$0.42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$0.52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0392B"/>
                          </a:solidFill>
                          <a:latin typeface="Palatino Linotype"/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1.37 Whr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1.37 Whr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71600" y="3931920"/>
            <a:ext cx="94183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4023360"/>
            <a:ext cx="886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H100 has 3.43x more compute than A100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Prefill benefits (TTFT: 0.51x). Token generation barely does (TBT: 0.70x).</a:t>
            </a:r>
          </a:p>
          <a:p>
            <a:pPr algn="l">
              <a:spcBef>
                <a:spcPts val="800"/>
              </a:spcBef>
              <a:defRPr sz="1700" b="1">
                <a:solidFill>
                  <a:srgbClr val="1A56DB"/>
                </a:solidFill>
                <a:latin typeface="Palatino Linotype"/>
              </a:defRPr>
            </a:pPr>
            <a:r>
              <a:t>Token generation can run on cheaper hardware without much performance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t>Power-capping token machines to 70% has virtually no latency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Splitwise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3931920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0" y="13898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alatino Linotype"/>
              </a:defRPr>
            </a:pPr>
            <a:r>
              <a:t>Cluster-Level Scheduler (JSQ routing)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474720" cy="2286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Palatino Linotype"/>
              </a:defRPr>
            </a:pPr>
            <a:r>
              <a:t>Prompt Pool</a:t>
            </a:r>
          </a:p>
          <a:p>
            <a:pPr>
              <a:spcBef>
                <a:spcPts val="10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Compute-optimized GPUs (H100)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Dedicated to prefill</a:t>
            </a:r>
          </a:p>
          <a:p>
            <a:pPr>
              <a:spcBef>
                <a:spcPts val="600"/>
              </a:spcBef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FCFS, batch up to 2048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200400"/>
            <a:ext cx="338328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Palatino Linotype"/>
              </a:defRPr>
            </a:pPr>
            <a:r>
              <a:t>KV-cache transfer  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560320"/>
            <a:ext cx="3474720" cy="228600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2651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6E6E"/>
                </a:solidFill>
                <a:latin typeface="Palatino Linotype"/>
              </a:defRPr>
            </a:pPr>
            <a:r>
              <a:t>Token Pool</a:t>
            </a:r>
          </a:p>
          <a:p>
            <a:pPr>
              <a:spcBef>
                <a:spcPts val="10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Cost-efficient GPUs (A100)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t>Dedicated to generation</a:t>
            </a:r>
          </a:p>
          <a:p>
            <a:pPr>
              <a:spcBef>
                <a:spcPts val="600"/>
              </a:spcBef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Continuous batching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212080"/>
            <a:ext cx="576072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52578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Palatino Linotype"/>
              </a:defRPr>
            </a:pPr>
            <a:r>
              <a:t>Mixed Pool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Flexible machines that handle overflow from either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Splitwise System Architecture</a:t>
            </a:r>
          </a:p>
        </p:txBody>
      </p:sp>
      <p:pic>
        <p:nvPicPr>
          <p:cNvPr id="3" name="Picture 2" descr="sw_fig1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901" y="1011085"/>
            <a:ext cx="4952197" cy="5064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4223" y="6263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rPr dirty="0"/>
              <a:t>Source: Patel et al., ISCA 2024, Figure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KV-Cache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54480"/>
            <a:ext cx="4754880" cy="2560320"/>
          </a:xfrm>
          <a:prstGeom prst="rect">
            <a:avLst/>
          </a:prstGeom>
          <a:solidFill>
            <a:srgbClr val="FD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Palatino Linotype"/>
              </a:defRPr>
            </a:pPr>
            <a:r>
              <a:t>Serialized (naive)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t>Wait for full prefill to finish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t>Transfer entire KV-cache at once</a:t>
            </a:r>
          </a:p>
          <a:p>
            <a:pPr>
              <a:spcBef>
                <a:spcPts val="600"/>
              </a:spcBef>
              <a:defRPr sz="1500" b="1">
                <a:solidFill>
                  <a:srgbClr val="C0392B"/>
                </a:solidFill>
                <a:latin typeface="Palatino Linotype"/>
              </a:defRPr>
            </a:pPr>
            <a:r>
              <a:t>64% overhead on second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4754880" cy="2560320"/>
          </a:xfrm>
          <a:prstGeom prst="rect">
            <a:avLst/>
          </a:prstGeom>
          <a:solidFill>
            <a:srgbClr val="E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A4C"/>
                </a:solidFill>
                <a:latin typeface="Palatino Linotype"/>
              </a:defRPr>
            </a:pPr>
            <a:r>
              <a:t>Per-layer (optimized)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t>Send each layer's cache as it computes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t>Transfer overlaps with computation</a:t>
            </a:r>
          </a:p>
          <a:p>
            <a:pPr>
              <a:spcBef>
                <a:spcPts val="600"/>
              </a:spcBef>
              <a:defRPr sz="1500" b="1">
                <a:solidFill>
                  <a:srgbClr val="1E8A4C"/>
                </a:solidFill>
                <a:latin typeface="Palatino Linotype"/>
              </a:defRPr>
            </a:pPr>
            <a:r>
              <a:t>16% overhead on second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480560"/>
            <a:ext cx="1005840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Palatino Linotype"/>
              </a:defRPr>
            </a:pPr>
            <a:r>
              <a:t>Transfer overhead: 0.8% of end-to-end latency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33333"/>
                </a:solidFill>
                <a:latin typeface="Palatino Linotype"/>
              </a:defRPr>
            </a:pPr>
            <a:r>
              <a:t>Constant 5-8ms regardless of prompt size (MSCCL++ zero-copy over InfiniBand)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E8A4C"/>
                </a:solidFill>
                <a:latin typeface="Palatino Linotype"/>
              </a:defRPr>
            </a:pPr>
            <a:r>
              <a:t>Both papers confirm: KV-cache transfer is not the bottleneck.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Cluster Configurations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Prompt GPUs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Token GPUs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Tradeoff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Splitwise-AA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DGX-A100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DGX-A100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Lowest cost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Splitwise-HH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DGX-H100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DGX-H100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Best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Splitwise-HA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DGX-H100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DGX-A100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Best cost-performance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Splitwise-HHcap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DGX-H100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H100 at 70%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Power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Splitwise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54480"/>
            <a:ext cx="100584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t>Same power &amp; cost budget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2.15x more throughput vs Baseline-A100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100584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t>Same cost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1.4x more throughput at 20% lower cost vs Baseline-H100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100584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t>Same throughput target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25% lower power (HHcap) or 25% lower cost (AA)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Headline: up to 1.4x throughput at 20% lower cost, or 2.35x throughput at same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Robust to workload changes (7% drop with mismatched workload) and model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Splitwise Throughput-Latency Results</a:t>
            </a:r>
          </a:p>
        </p:txBody>
      </p:sp>
      <p:pic>
        <p:nvPicPr>
          <p:cNvPr id="3" name="Picture 2" descr="sw_fig16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91" y="974466"/>
            <a:ext cx="6240378" cy="50919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6669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rPr dirty="0"/>
              <a:t>Source: Patel et al., ISCA 2024, Figure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Splitwise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Palatino Linotype"/>
              </a:defRPr>
            </a:pPr>
            <a:endParaRPr/>
          </a:p>
          <a:p>
            <a:pPr>
              <a:spcBef>
                <a:spcPts val="12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Characterized real Azure production workloads, found 7 key insights</a:t>
            </a:r>
          </a:p>
          <a:p>
            <a:pPr>
              <a:spcBef>
                <a:spcPts val="12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Designed three-pool architecture (prompt, token, mixed)</a:t>
            </a:r>
          </a:p>
          <a:p>
            <a:pPr>
              <a:spcBef>
                <a:spcPts val="12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Optimized KV-cache transfer: 0.8% of end-to-end latency</a:t>
            </a:r>
          </a:p>
          <a:p>
            <a:pPr>
              <a:spcBef>
                <a:spcPts val="12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Explored four heterogeneous cluster configurations</a:t>
            </a:r>
          </a:p>
          <a:p>
            <a:pPr>
              <a:spcBef>
                <a:spcPts val="1200"/>
              </a:spcBef>
              <a:defRPr sz="1700" b="0">
                <a:solidFill>
                  <a:srgbClr val="333333"/>
                </a:solidFill>
                <a:latin typeface="Palatino Linotype"/>
              </a:defRPr>
            </a:pPr>
            <a:r>
              <a:t>Result: cheaper GPUs for token generation work just as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800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Limitations: needs cluster provisioning, less useful with few GPUs, basic fault tolerance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91695" cy="25400"/>
          </a:xfrm>
          <a:prstGeom prst="rect">
            <a:avLst/>
          </a:prstGeom>
          <a:solidFill>
            <a:srgbClr val="0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alatino Linotype"/>
              </a:defRPr>
            </a:pPr>
            <a:r>
              <a:t>DistServe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CCBB"/>
                </a:solidFill>
                <a:latin typeface="Palatino Linotype"/>
              </a:defRPr>
            </a:pPr>
            <a:r>
              <a:t>Disaggregating Prefill and Decoding for Goodput-Optimized LLM Serving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Zhong et al. | Peking University + StepFun + UC San Diego | OSDI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688"/>
                </a:solidFill>
                <a:latin typeface="Palatino Linotype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rPr dirty="0"/>
              <a:t>Goodput</a:t>
            </a:r>
            <a:r>
              <a:rPr lang="en-US" dirty="0"/>
              <a:t> / How </a:t>
            </a:r>
            <a:r>
              <a:rPr lang="en-US" dirty="0" err="1"/>
              <a:t>DistServe</a:t>
            </a:r>
            <a:r>
              <a:rPr lang="en-US" dirty="0"/>
              <a:t> Works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097280" y="1179879"/>
            <a:ext cx="10058400" cy="466041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6840" y="124581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Palatino Linotype"/>
              </a:defRPr>
            </a:pPr>
            <a:r>
              <a:rPr dirty="0"/>
              <a:t>Goodput = max request rate while meeting </a:t>
            </a:r>
            <a:r>
              <a:rPr lang="en-US" dirty="0"/>
              <a:t>Service Level Objective (SLO)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1C0D56-4419-AACE-3174-F9AEB95A6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575" y="1839543"/>
            <a:ext cx="5608850" cy="4382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4F7AF3-E777-5A03-3812-B9CDF52995A8}"/>
              </a:ext>
            </a:extLst>
          </p:cNvPr>
          <p:cNvSpPr txBox="1"/>
          <p:nvPr/>
        </p:nvSpPr>
        <p:spPr>
          <a:xfrm>
            <a:off x="1762298" y="6415441"/>
            <a:ext cx="8728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A100, 13B LLM, 512 prompt and 64 output tokens to simulate an article summary task.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E8FFB-4DC0-B5EB-8BEE-52B1D53C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C92EF-7CEA-61CE-77C4-23C5D92AAB14}"/>
              </a:ext>
            </a:extLst>
          </p:cNvPr>
          <p:cNvSpPr txBox="1"/>
          <p:nvPr/>
        </p:nvSpPr>
        <p:spPr>
          <a:xfrm>
            <a:off x="1097280" y="45720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rPr lang="en-US" dirty="0"/>
              <a:t>Why Not Chunked Prefill?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A6AC1-50AF-A7C2-B843-0D4947AC269D}"/>
              </a:ext>
            </a:extLst>
          </p:cNvPr>
          <p:cNvSpPr txBox="1"/>
          <p:nvPr/>
        </p:nvSpPr>
        <p:spPr>
          <a:xfrm>
            <a:off x="3929148" y="5960209"/>
            <a:ext cx="4333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Mixed Chunk / Chunked Prefill: Sarathi Serve</a:t>
            </a:r>
          </a:p>
          <a:p>
            <a:endParaRPr lang="en-US" dirty="0"/>
          </a:p>
        </p:txBody>
      </p:sp>
      <p:pic>
        <p:nvPicPr>
          <p:cNvPr id="1026" name="Picture 2" descr="Summary: Taming Throughput-Latency Tradeoff in LLM Inference with Sarathi- Serve - Wentao's Blog">
            <a:extLst>
              <a:ext uri="{FF2B5EF4-FFF2-40B4-BE49-F238E27FC236}">
                <a16:creationId xmlns:a16="http://schemas.microsoft.com/office/drawing/2014/main" id="{3DFF7814-A917-5D82-84E6-995F73367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818" y="1656475"/>
            <a:ext cx="6334363" cy="380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72012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rPr lang="en-US" dirty="0"/>
              <a:t>Formal Analysis / Parallelism Tradeoff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097280" y="1554480"/>
            <a:ext cx="4754880" cy="2571471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Palatino Linotype"/>
              </a:defRPr>
            </a:pPr>
            <a:r>
              <a:rPr dirty="0"/>
              <a:t>Prefill Instances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Modeled as M/D/1 queue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Avg TTFT = execution time + queuing delay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Low request rates: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rPr dirty="0"/>
              <a:t>Tensor parallelism better (cuts execution time)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High request rates: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rPr dirty="0"/>
              <a:t>Pipeline parallelism better (handles queuing)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4754880" cy="2571471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63093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6E6E"/>
                </a:solidFill>
                <a:latin typeface="Palatino Linotype"/>
              </a:defRPr>
            </a:pPr>
            <a:r>
              <a:rPr dirty="0"/>
              <a:t>Decoding Instances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Single job is bandwidth-bound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Batching is essential for utilization</a:t>
            </a:r>
          </a:p>
          <a:p>
            <a:pPr>
              <a:spcBef>
                <a:spcPts val="10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Disaggregation helps: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rPr dirty="0"/>
              <a:t>Multiple prefill instances feed one decoder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666666"/>
                </a:solidFill>
                <a:latin typeface="Palatino Linotype"/>
              </a:defRPr>
            </a:pPr>
            <a:r>
              <a:rPr dirty="0"/>
              <a:t>Naturally larger batches, better GPU use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Large batches approach compute-bound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F45936-2D6A-E4EC-B2DA-C595E4AAB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399001"/>
            <a:ext cx="4998720" cy="116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84CFE4-7676-2D3F-3C44-DF1C1E174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83151"/>
            <a:ext cx="4051300" cy="800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DistServe System Architecture</a:t>
            </a:r>
          </a:p>
        </p:txBody>
      </p:sp>
      <p:pic>
        <p:nvPicPr>
          <p:cNvPr id="3" name="Picture 2" descr="ds_fig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7112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594565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t>Source: Zhong et al., OSDI 2024, Figure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Placement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Palatino Linotype"/>
              </a:defRPr>
            </a:pPr>
            <a:r>
              <a:rPr dirty="0"/>
              <a:t>Input: model, workload, SLOs.    </a:t>
            </a:r>
            <a:r>
              <a:rPr lang="en-US" dirty="0"/>
              <a:t>                                                 </a:t>
            </a:r>
            <a:r>
              <a:rPr dirty="0"/>
              <a:t>Output: optimal parallelism + instance counts.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4754880" cy="2743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420624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Palatino Linotype"/>
              </a:defRPr>
            </a:pPr>
            <a:r>
              <a:rPr dirty="0"/>
              <a:t>Algorithm 1: </a:t>
            </a:r>
            <a:r>
              <a:rPr lang="en-US" dirty="0"/>
              <a:t>for high speed</a:t>
            </a:r>
            <a:r>
              <a:rPr dirty="0"/>
              <a:t> cross-node network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Enumerate parallelism configs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Simulate goodput for each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Pick best config per phase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Replicate to meet target rate</a:t>
            </a:r>
          </a:p>
          <a:p>
            <a:pPr>
              <a:spcBef>
                <a:spcPts val="600"/>
              </a:spcBef>
              <a:defRPr sz="1400" b="1">
                <a:solidFill>
                  <a:srgbClr val="1E8A4C"/>
                </a:solidFill>
                <a:latin typeface="Palatino Linotype"/>
              </a:defRPr>
            </a:pPr>
            <a:r>
              <a:rPr dirty="0"/>
              <a:t>Runs in under 1.3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011680"/>
            <a:ext cx="4754880" cy="2743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20624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E6E6E"/>
                </a:solidFill>
                <a:latin typeface="Palatino Linotype"/>
              </a:defRPr>
            </a:pPr>
            <a:r>
              <a:rPr dirty="0"/>
              <a:t>Algorithm 2: </a:t>
            </a:r>
            <a:r>
              <a:rPr lang="en-US" dirty="0"/>
              <a:t>For l</a:t>
            </a:r>
            <a:r>
              <a:rPr dirty="0"/>
              <a:t>imited bandwidth</a:t>
            </a:r>
            <a:r>
              <a:rPr lang="en-US" dirty="0"/>
              <a:t> network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Prefill + decode on same node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Use NVLINK for KV transfer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Co-optimize within node budget</a:t>
            </a:r>
          </a:p>
          <a:p>
            <a:pPr>
              <a:spcBef>
                <a:spcPts val="600"/>
              </a:spcBef>
              <a:defRPr sz="1400" b="0">
                <a:solidFill>
                  <a:srgbClr val="333333"/>
                </a:solidFill>
                <a:latin typeface="Palatino Linotype"/>
              </a:defRPr>
            </a:pPr>
            <a:r>
              <a:rPr dirty="0"/>
              <a:t>Group layers into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Palatino Linotype"/>
              </a:defRPr>
            </a:pPr>
            <a:r>
              <a:t>Simulator accuracy: under 2% error compared to real hardware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DistServe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alatino Linotype"/>
              </a:defRPr>
            </a:pPr>
            <a:r>
              <a:t>32 NVIDIA A100-80GB GPUs across 4 nodes  |  OPT models (13B, 66B, 175B)  |  vs vLLM and DeepSpeed-MII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Rate vs vLLM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SLO vs vLLM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Rate vs DeepSpeed-MII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Chatbot (ShareGPT)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rPr dirty="0"/>
                        <a:t>2.0x to 4.6x higher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1.8x to 3.2x tighter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A4C"/>
                          </a:solidFill>
                          <a:latin typeface="Palatino Linotype"/>
                        </a:defRPr>
                      </a:pPr>
                      <a:r>
                        <a:rPr dirty="0"/>
                        <a:t>1.6x to 7.4x higher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Code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A4C"/>
                          </a:solidFill>
                          <a:latin typeface="Palatino Linotype"/>
                        </a:defRPr>
                      </a:pPr>
                      <a:r>
                        <a:t>5.7x 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1.4x tighter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1.6x 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Summarization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4.3x higher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A4C"/>
                          </a:solidFill>
                          <a:latin typeface="Palatino Linotype"/>
                        </a:defRPr>
                      </a:pPr>
                      <a:r>
                        <a:t>12.6x tighter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rPr dirty="0"/>
                        <a:t>1.8x higher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Palatino Linotype"/>
              </a:defRPr>
            </a:pPr>
            <a:r>
              <a:rPr dirty="0"/>
              <a:t>Parallelism strategies chosen (different per phase):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4846320"/>
          <a:ext cx="5760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Prefill (TP, PP)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Decode (TP, PP)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OPT-13B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t>(2, 1)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t>(1, 1)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OPT-66B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t>(4, 1)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t>(2, 2)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OPT-175B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rPr dirty="0"/>
                        <a:t>(3, 3)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56DB"/>
                          </a:solidFill>
                          <a:latin typeface="Palatino Linotype"/>
                        </a:defRPr>
                      </a:pPr>
                      <a:r>
                        <a:rPr dirty="0"/>
                        <a:t>(4, 3)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DistServe Evaluation: Chatbot and Workloads</a:t>
            </a:r>
          </a:p>
        </p:txBody>
      </p:sp>
      <p:pic>
        <p:nvPicPr>
          <p:cNvPr id="3" name="Picture 2" descr="ds_fig8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175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54097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t>Source: Zhong et al., OSDI 2024, Figure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Palatino Linotype"/>
              </a:defRPr>
            </a:pPr>
            <a:r>
              <a:t>DistServe Evaluation: Code and Summarization</a:t>
            </a:r>
          </a:p>
        </p:txBody>
      </p:sp>
      <p:pic>
        <p:nvPicPr>
          <p:cNvPr id="3" name="Picture 2" descr="ds_fig9_code_su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27050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393944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alatino Linotype"/>
              </a:defRPr>
            </a:pPr>
            <a:r>
              <a:t>Source: Zhong et al., OSDI 2024, Figure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Splitwise vs DistServe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71600"/>
          <a:ext cx="9966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endParaRPr/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Splitwise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alatino Linotype"/>
                        </a:defRPr>
                      </a:pPr>
                      <a:r>
                        <a:t>DistServe</a:t>
                      </a:r>
                    </a:p>
                  </a:txBody>
                  <a:tcPr>
                    <a:solidFill>
                      <a:srgbClr val="0E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Heterogeneous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Goodput optimization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Mixed GPU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Homogeneous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Core idea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Right hardware per phase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Right parallelism per phase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Audience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Cloud providers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Service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KV transfer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Per-layer overlapped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Pull-based on-demand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Production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Queueing theory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Venue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ISCA 2024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Palatino Linotype"/>
                        </a:defRPr>
                      </a:pPr>
                      <a:r>
                        <a:t>OSDI 2024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6692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Palatino Linotype"/>
              </a:defRPr>
            </a:pPr>
            <a:r>
              <a:t>Complementary approaches. Best system would combine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Palatino Linotype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[1]  P. Patel, E. Choukse, C. Zhang, A. Shah, I. Goiri, S. Maleki, R. Bianchini.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"Splitwise: Efficient Generative LLM Inference Using Phase Splitting."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ISCA 2024. arXiv:2311.18677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endParaRPr/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[2]  Y. Zhong, S. Liu, J. Chen, J. Hu, Y. Zhu, X. Liu, X. Jin, H. Zhang.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"DistServe: Disaggregating Prefill and Decoding for Goodput-optimized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Large Language Model Serving."  OSDI 2024. arXiv:2401.09670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endParaRPr/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[3]  A. Agrawal et al. Sarathi: Efficient LLM Inference by Piggybacking Decodes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with Chunked Prefills. arXiv:2308.16369, 2023.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endParaRPr/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[4]  W. Kwon et al. Efficient Memory Management for Large Language Model Serving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with PagedAttention (vLLM). SOSP 2023.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endParaRPr/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[5]  Y. Sheng et al. FlexGen: High-Throughput Generative Inference of Large Language</a:t>
            </a:r>
          </a:p>
          <a:p>
            <a:pPr algn="l">
              <a:spcBef>
                <a:spcPts val="100"/>
              </a:spcBef>
              <a:defRPr sz="1300" b="0">
                <a:solidFill>
                  <a:srgbClr val="333333"/>
                </a:solidFill>
                <a:latin typeface="Palatino Linotype"/>
              </a:defRPr>
            </a:pPr>
            <a:r>
              <a:t>     Models with a Single GPU. ICML 2023.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Palatino Linotype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alatino Linotype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88AADD"/>
                </a:solidFill>
                <a:latin typeface="Palatino Linotype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Splitwise: arXiv:2311.18677 (ISCA 2024)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DistServe: arXiv:2401.09670 (OSDI 2024)</a:t>
            </a:r>
          </a:p>
          <a:p>
            <a:pPr algn="l">
              <a:spcBef>
                <a:spcPts val="1600"/>
              </a:spcBef>
              <a:defRPr sz="1000" b="0">
                <a:solidFill>
                  <a:srgbClr val="AAAAAA"/>
                </a:solidFill>
                <a:latin typeface="Palatino Linotype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FFFFFF"/>
                </a:solidFill>
                <a:latin typeface="Palatino Linotype"/>
              </a:defRPr>
            </a:pPr>
            <a:r>
              <a:t>Berat Celik  &amp;  Jiayang (Ethan) Chen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AAAAAA"/>
                </a:solidFill>
                <a:latin typeface="Palatino Linotype"/>
              </a:defRPr>
            </a:pPr>
            <a:r>
              <a:t>ECE 5545  |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688"/>
                </a:solidFill>
                <a:latin typeface="Palatino Linotype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1722</Words>
  <Application>Microsoft Macintosh PowerPoint</Application>
  <PresentationFormat>Widescreen</PresentationFormat>
  <Paragraphs>371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Ethan</cp:lastModifiedBy>
  <cp:revision>3</cp:revision>
  <dcterms:created xsi:type="dcterms:W3CDTF">2013-01-27T09:14:16Z</dcterms:created>
  <dcterms:modified xsi:type="dcterms:W3CDTF">2026-04-07T19:10:49Z</dcterms:modified>
  <cp:category/>
</cp:coreProperties>
</file>