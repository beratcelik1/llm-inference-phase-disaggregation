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Palatino Linotype"/>
              </a:defRPr>
            </a:pPr>
            <a:r>
              <a:t>Phase Disaggregation for LLM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88AADD"/>
                </a:solidFill>
                <a:latin typeface="Palatino Linotype"/>
              </a:defRPr>
            </a:pPr>
            <a:r>
              <a:t>Splitwise  &amp;  DistServe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Palatino Linotype"/>
              </a:defRPr>
            </a:pPr>
            <a:r>
              <a:t>ECE 5545: Machine Learning Hardware &amp; Systems</a:t>
            </a:r>
          </a:p>
          <a:p>
            <a:pPr algn="l">
              <a:spcBef>
                <a:spcPts val="1200"/>
              </a:spcBef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Berat Celik  &amp;  Jiayang (Ethan) Chen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  <a:latin typeface="Palatino Linotype"/>
              </a:defRPr>
            </a:pPr>
            <a:r>
              <a:t>Part 1: Berat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LLM inference background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The two phases and why they differ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The colocation problem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Splitwise: production insights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Architecture and KV-cache transfer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Heterogeneous cluster designs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E6E6E"/>
                </a:solidFill>
                <a:latin typeface="Palatino Linotype"/>
              </a:defRPr>
            </a:pPr>
            <a:r>
              <a:t>Part 2: Ethan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DistServe: goodput optimization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Formal tradeoff analysis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Placement algorithms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Online scheduling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Evaluation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Comparison and future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How LLM Inference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  <a:latin typeface="Palatino Linotype"/>
              </a:defRPr>
            </a:pPr>
            <a:r>
              <a:t>Phase 1: Prefill</a:t>
            </a:r>
          </a:p>
          <a:p>
            <a:pPr>
              <a:spcBef>
                <a:spcPts val="10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Processes all input tokens in parallel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One forward pass through the model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Produces the first output token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Generates the KV-cache (stored context)</a:t>
            </a:r>
          </a:p>
          <a:p>
            <a:pPr>
              <a:spcBef>
                <a:spcPts val="600"/>
              </a:spcBef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Compute-bound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E6E6E"/>
                </a:solidFill>
                <a:latin typeface="Palatino Linotype"/>
              </a:defRPr>
            </a:pPr>
            <a:r>
              <a:t>Phase 2: Decoding</a:t>
            </a:r>
          </a:p>
          <a:p>
            <a:pPr>
              <a:spcBef>
                <a:spcPts val="10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Generates tokens one at a time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Each step reads the full KV-cache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Repeats until end of sequence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Sequential, autoregressive</a:t>
            </a:r>
          </a:p>
          <a:p>
            <a:pPr>
              <a:spcBef>
                <a:spcPts val="600"/>
              </a:spcBef>
              <a:defRPr sz="1600" b="1">
                <a:solidFill>
                  <a:srgbClr val="0E6E6E"/>
                </a:solidFill>
                <a:latin typeface="Palatino Linotype"/>
              </a:defRPr>
            </a:pPr>
            <a:r>
              <a:t>Memory-bandwidth-bound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Palatino Linotype"/>
              </a:defRPr>
            </a:pPr>
            <a:r>
              <a:t>"Is tomato a fruit?"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Prefill: process 5 tokens at once, output "Yes"    Decode: generate  ","  "it"  "is"  "."  one by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Palatino Linotype"/>
              </a:defRPr>
            </a:pPr>
            <a:r>
              <a:t>KV-Cache: key/value tensors stored during prefill, read at every decode step. This is what gets transferred when phases are on different machines.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Two Phases, Very Different Profiles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51435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Prefill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Decoding</a:t>
                      </a:r>
                    </a:p>
                  </a:txBody>
                  <a:tcPr>
                    <a:solidFill>
                      <a:srgbClr val="0E6E6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Bottleneck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Compute-bound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Memory bandwidth-bound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Tokens per 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All input tokens (parallel)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One token (sequential)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GPU utilization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Low without batching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Power 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Near TDP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Well below TDP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Latency metric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(time to first token)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TPOT / TBT (time per token)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Batching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Limited benefit (already saturated)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Significant benefit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Preferred parallelism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Tensor (intra-op)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Pipeline (inter-op)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58521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This asymmetry is what motivates both papers.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Key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4963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Why it matters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Time to first token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User-perceived responsiveness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TBT / TPOT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Time between output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Streaming reading speed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E2E Latency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+ TPOT x output length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Total request time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Requests per 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System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Goodput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Throughput while meeting SLO targets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Cost efficiency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SLO Attainment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% of requests within latency bounds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Service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" y="5212080"/>
            <a:ext cx="9418320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5257800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Example SLO: "90% of requests must have TTFT &lt; 0.25s and TPOT &lt; 0.1s"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C0392B"/>
                </a:solidFill>
                <a:latin typeface="Palatino Linotype"/>
              </a:defRPr>
            </a:pPr>
            <a:r>
              <a:t>The Problem with Colocation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Prefill/Decode Interference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One prefill in a decode batch: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  3x latency hit (input=128)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  5x latency hit (input=1024)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Goes both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2628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Parallelism Coupling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Prefill wants tensor parallelism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Decoding wants pipeline parallelism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Colocated: must pick one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One phase always loses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32104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Over-Provisioning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Must provision for worst case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Colocated: 1.6 req/s (OPT-13B)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Disaggregated: 3.3 req/s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2.1x wasted capacity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120640"/>
            <a:ext cx="10058400" cy="7315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1663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Solution: put prefill and decoding on separate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Prefill-Decode Interference</a:t>
            </a:r>
          </a:p>
        </p:txBody>
      </p:sp>
      <p:pic>
        <p:nvPicPr>
          <p:cNvPr id="3" name="Picture 2" descr="ds_fig2_inter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4541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688541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Splitwise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88AADD"/>
                </a:solidFill>
                <a:latin typeface="Palatino Linotype"/>
              </a:defRPr>
            </a:pPr>
            <a:r>
              <a:t>Efficient Generative LLM Inference Using Phase Splitting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Patel et al. | University of Washington + Microsoft | ISCA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6688"/>
                </a:solidFill>
                <a:latin typeface="Palatino Linotype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Insights from Azure Production Traces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Real traces from two Microsoft Azure LLM services (coding + conversation, Nov 2023)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Workloads vary widely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Coding: 1500 prompt tokens, 13 output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Conversation: 1020 prompt, 129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3520439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19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Token generation underutilizes GPUs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60-70% of time spent with 20 or fewer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active tokens in the batch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III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Most wall-clock time is in decoding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Even large prompts (1500 tokens) take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roughly the same time as 6 output tokens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81159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39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IV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Prompt batching saturates quickly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Throughput plateaus after ~2048 tokens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Token batching keeps 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Palatino Linotype"/>
              </a:defRPr>
            </a:pPr>
            <a:r>
              <a:t>Splitwise Figure 3-4, Table IV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Azure Production Trace Distributions</a:t>
            </a:r>
          </a:p>
        </p:txBody>
      </p:sp>
      <p:pic>
        <p:nvPicPr>
          <p:cNvPr id="3" name="Picture 2" descr="sw_fig3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39267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161193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Patel et al., ISCA 2024, Figure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The Hardware Insight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5943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A100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H100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(coding)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185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95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0.51x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TBT (coding)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52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31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0.70x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Cost per request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$0.42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$0.52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0392B"/>
                          </a:solidFill>
                          <a:latin typeface="Palatino Linotype"/>
                        </a:defRPr>
                      </a:pPr>
                      <a:r>
                        <a:t>1.24x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" y="3931920"/>
            <a:ext cx="9418320" cy="1645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4023360"/>
            <a:ext cx="8869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H100 has 3.43x more compute than A100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Prefill benefits (TTFT: 0.51x). Token generation barely does (TBT: 0.70x).</a:t>
            </a:r>
          </a:p>
          <a:p>
            <a:pPr algn="l">
              <a:spcBef>
                <a:spcPts val="800"/>
              </a:spcBef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Token generation can run on cheaper hardware without much performance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7607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Power-capping token machines to 70% has virtually no latency impact.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3931920" cy="64008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97680" y="138988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Palatino Linotype"/>
              </a:defRPr>
            </a:pPr>
            <a:r>
              <a:t>Cluster-Level Scheduler (JSQ routing)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3474720" cy="22860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Prompt Pool</a:t>
            </a:r>
          </a:p>
          <a:p>
            <a:pPr>
              <a:spcBef>
                <a:spcPts val="10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Compute-optimized GPUs (H100)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Dedicated to prefill</a:t>
            </a:r>
          </a:p>
          <a:p>
            <a:pPr>
              <a:spcBef>
                <a:spcPts val="6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FCFS, batch up to 2048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3200400"/>
            <a:ext cx="338328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200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6666"/>
                </a:solidFill>
                <a:latin typeface="Palatino Linotype"/>
              </a:defRPr>
            </a:pPr>
            <a:r>
              <a:t>KV-cache transfer  &gt;&gt;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2560320"/>
            <a:ext cx="3474720" cy="228600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6517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Token Pool</a:t>
            </a:r>
          </a:p>
          <a:p>
            <a:pPr>
              <a:spcBef>
                <a:spcPts val="10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Cost-efficient GPUs (A100)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Dedicated to generation</a:t>
            </a:r>
          </a:p>
          <a:p>
            <a:pPr>
              <a:spcBef>
                <a:spcPts val="6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Continuous batching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5212080"/>
            <a:ext cx="576072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52578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Palatino Linotype"/>
              </a:defRPr>
            </a:pPr>
            <a:r>
              <a:t>Mixed Pool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Flexible machines that handle overflow from either pool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Splitwise System Architecture</a:t>
            </a:r>
          </a:p>
        </p:txBody>
      </p:sp>
      <p:pic>
        <p:nvPicPr>
          <p:cNvPr id="3" name="Picture 2" descr="sw_fig10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88836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101181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Patel et al., ISCA 2024, Figure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KV-Cache Transfer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Palatino Linotype"/>
              </a:defRPr>
            </a:pPr>
            <a:r>
              <a:t>Serialized (naive)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Wait for full prefill to finish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Transfer entire KV-cache at once</a:t>
            </a:r>
          </a:p>
          <a:p>
            <a:pPr>
              <a:spcBef>
                <a:spcPts val="600"/>
              </a:spcBef>
              <a:defRPr sz="1500" b="1">
                <a:solidFill>
                  <a:srgbClr val="C0392B"/>
                </a:solidFill>
                <a:latin typeface="Palatino Linotype"/>
              </a:defRPr>
            </a:pPr>
            <a:r>
              <a:t>64% overhead on second token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EF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A4C"/>
                </a:solidFill>
                <a:latin typeface="Palatino Linotype"/>
              </a:defRPr>
            </a:pPr>
            <a:r>
              <a:t>Per-layer (optimized)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Send each layer's cache as it computes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Transfer overlaps with computation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16% overhead on second token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1645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Transfer overhead: 0.8% of end-to-end latency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Constant 5-8ms regardless of prompt size (MSCCL++ zero-copy over InfiniBand)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1E8A4C"/>
                </a:solidFill>
                <a:latin typeface="Palatino Linotype"/>
              </a:defRPr>
            </a:pPr>
            <a:r>
              <a:t>Both papers confirm: KV-cache transfer is not the bottleneck.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Cluster Configurations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4580"/>
                <a:gridCol w="2354580"/>
                <a:gridCol w="2354580"/>
                <a:gridCol w="235458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Prompt GPUs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Token GPUs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Tradeoff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Splitwise-AA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Lowest cost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Best 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Best cost-performance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Splitwise-HHcap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H100 at 70%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Power savings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power &amp; cost budget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2.15x more throughput vs Baseline-A100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74320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cost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1.4x more throughput at 20% lower cost vs Baseline-H100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93192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0233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throughput target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25% lower power (HHcap) or 25% lower cost (AA)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3035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Headline: up to 1.4x throughput at 20% lower cost, or 2.35x throughput at same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Robust to workload changes (7% drop with mismatched workload) and model changes.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Splitwise Throughput-Latency Results</a:t>
            </a:r>
          </a:p>
        </p:txBody>
      </p:sp>
      <p:pic>
        <p:nvPicPr>
          <p:cNvPr id="3" name="Picture 2" descr="sw_fig16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70881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8322587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Patel et al., ISCA 2024, Figure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Palatino Linotype"/>
              </a:defRPr>
            </a:pP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Characterized real Azure production workloads, found 7 key insights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Designed three-pool architecture (prompt, token, mixed)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Optimized KV-cache transfer: 0.8% of end-to-end latency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Explored four heterogeneous cluster configurations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Result: cheaper GPUs for token generation work just as well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4754880"/>
            <a:ext cx="100584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800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Limitations: needs cluster provisioning, less useful with few GPUs, basic fault tolerance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25400"/>
          </a:xfrm>
          <a:prstGeom prst="rect">
            <a:avLst/>
          </a:prstGeom>
          <a:solidFill>
            <a:srgbClr val="0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DistServe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CCBB"/>
                </a:solidFill>
                <a:latin typeface="Palatino Linotype"/>
              </a:defRPr>
            </a:pPr>
            <a:r>
              <a:t>Disaggregating Prefill and Decoding for Goodput-Optimized LLM Serving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Zhong et al. | Peking University + StepFun + UC San Diego | OSDI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6688"/>
                </a:solidFill>
                <a:latin typeface="Palatino Linotyp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Goodput: The Right Optimization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10058400" cy="109728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Per-GPU Goodput = max request rate while meeting SLO targets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Higher goodput = lower cost per query = what production systems actually optimize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1A"/>
                </a:solidFill>
                <a:latin typeface="Palatino Linotype"/>
              </a:defRPr>
            </a:pPr>
            <a:r>
              <a:t>DistServe's approach: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Separate prefill and decoding onto different GPU instances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Optimize parallelism strategy for each phase independently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Automatically find the best placement on the cluster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Use simulation to evaluate configurations (under 2% error)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Tradeoff Analysis After Disaggregation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34747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Prefill Instances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Modeled as M/D/1 queue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Avg TTFT = execution time + queuing delay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Low request rates: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Tensor parallelism better (cuts execution time)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High request rates: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Pipeline parallelism better (handles queuing)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347472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Decoding Instances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Single job is bandwidth-bound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Batching is essential for utilization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Disaggregation helps: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Multiple prefill instances feed one decoder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Naturally larger batches, better GPU use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Large batches approach compute-bound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5303520"/>
            <a:ext cx="10058400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349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After disaggregation, each phase has independent knobs. Impossible when sharing GPUs.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System Architecture</a:t>
            </a:r>
          </a:p>
        </p:txBody>
      </p:sp>
      <p:pic>
        <p:nvPicPr>
          <p:cNvPr id="3" name="Picture 2" descr="ds_fig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7112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94565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Placement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Input: model, workload, SLOs, cluster hardware.    Output: optimal parallelism + instance counts + placement.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4754880" cy="274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Algorithm 1: Fast cross-node network</a:t>
            </a:r>
          </a:p>
          <a:p>
            <a:pPr>
              <a:spcBef>
                <a:spcPts val="8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Enumerate parallelism configs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Simulate goodput for each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Pick best config per phase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Replicate to meet target rate</a:t>
            </a:r>
          </a:p>
          <a:p>
            <a:pPr>
              <a:spcBef>
                <a:spcPts val="600"/>
              </a:spcBef>
              <a:defRPr sz="1400" b="1">
                <a:solidFill>
                  <a:srgbClr val="1E8A4C"/>
                </a:solidFill>
                <a:latin typeface="Palatino Linotype"/>
              </a:defRPr>
            </a:pPr>
            <a:r>
              <a:t>Runs in under 1.3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011680"/>
            <a:ext cx="4754880" cy="274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0312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E6E6E"/>
                </a:solidFill>
                <a:latin typeface="Palatino Linotype"/>
              </a:defRPr>
            </a:pPr>
            <a:r>
              <a:t>Algorithm 2: Limited bandwidth</a:t>
            </a:r>
          </a:p>
          <a:p>
            <a:pPr>
              <a:spcBef>
                <a:spcPts val="8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Prefill + decode on same node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Use NVLINK for KV transfer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Co-optimize within node budget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Group layers into segments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5029200"/>
            <a:ext cx="10058400" cy="64008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0749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Simulator accuracy: under 2% error compared to real hardware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DistServe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32 NVIDIA A100-80GB GPUs across 4 nodes  |  OPT models (13B, 66B, 175B)  |  vs vLLM and DeepSpeed-MII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828800"/>
          <a:ext cx="9966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5715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Workload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Rate vs vLLM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SLO vs vLLM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Rate vs DeepSpeed-MII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Chatbot (ShareGPT)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2.0x to 4.6x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1.8x to 3.2x tighter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1.6x to 7.4x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Code Completion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5.7x 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1.4x tighter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1.6x 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Summarization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4.3x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12.6x tighter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1.8x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Palatino Linotype"/>
              </a:defRPr>
            </a:pPr>
            <a:r>
              <a:t>Parallelism strategies chosen (different per phase):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0" y="4846320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Prefill (TP, PP)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Decode (TP, PP)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OPT-13B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(2, 1)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(1, 1)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OPT-66B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(4, 1)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(2, 2)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OPT-175B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(3, 3)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(4, 3)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Evaluation: Chatbot and Workloads</a:t>
            </a:r>
          </a:p>
        </p:txBody>
      </p:sp>
      <p:pic>
        <p:nvPicPr>
          <p:cNvPr id="3" name="Picture 2" descr="ds_fig8_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1752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4097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Evaluation: Code and Summarization</a:t>
            </a:r>
          </a:p>
        </p:txBody>
      </p:sp>
      <p:pic>
        <p:nvPicPr>
          <p:cNvPr id="3" name="Picture 2" descr="ds_fig9_code_su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27050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939444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What Actually Matters?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EF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A4C"/>
                </a:solidFill>
                <a:latin typeface="Palatino Linotype"/>
              </a:defRPr>
            </a:pPr>
            <a:r>
              <a:t>KV-Cache Transfer Cost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OPT-175B: under 0.1% of total latency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95% of requests: under 30ms delay</a:t>
            </a:r>
          </a:p>
          <a:p>
            <a:pPr algn="l">
              <a:spcBef>
                <a:spcPts val="1200"/>
              </a:spcBef>
              <a:defRPr sz="1600" b="1">
                <a:solidFill>
                  <a:srgbClr val="1E8A4C"/>
                </a:solidFill>
                <a:latin typeface="Palatino Linotype"/>
              </a:defRPr>
            </a:pPr>
            <a:r>
              <a:t>Transfer is not the bottleneck.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Confirms Splitwise's findings.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Palatino Linotype"/>
              </a:defRPr>
            </a:pPr>
            <a:r>
              <a:t>Ablation: Parallelism Search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vLLM++ (exhaustive parallelism search)</a:t>
            </a:r>
          </a:p>
          <a:p>
            <a:pPr>
              <a:spcBef>
                <a:spcPts val="600"/>
              </a:spcBef>
              <a:defRPr sz="1500" b="1">
                <a:solidFill>
                  <a:srgbClr val="C0392B"/>
                </a:solidFill>
                <a:latin typeface="Palatino Linotype"/>
              </a:defRPr>
            </a:pPr>
            <a:r>
              <a:t>Same performance as default vLLM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Interference cancels parallelism gains.</a:t>
            </a:r>
          </a:p>
          <a:p>
            <a:pPr algn="l">
              <a:spcBef>
                <a:spcPts val="400"/>
              </a:spcBef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Must disaggregate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Per-Request Latency Distribution</a:t>
            </a:r>
          </a:p>
        </p:txBody>
      </p:sp>
      <p:pic>
        <p:nvPicPr>
          <p:cNvPr id="3" name="Picture 2" descr="ds_fig10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5376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66113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vs DistServe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37160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51435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Splitwise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DistServe</a:t>
                      </a:r>
                    </a:p>
                  </a:txBody>
                  <a:tcPr>
                    <a:solidFill>
                      <a:srgbClr val="0E6E6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Focus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Heterogeneous hardware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Goodput optimization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Cluster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Mixed GPU types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Homogeneous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Core idea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Right hardware per phase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Right parallelism per phase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Audience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Cloud providers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Service operators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KV transfer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Per-layer overlapped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Pull-based on-demand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Production traces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Queueing theory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Venue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ISCA 2024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OSDI 2024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66928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Complementary approaches. Best system would combine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Limitations and Open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Palatino Linotype"/>
              </a:defRPr>
            </a:pPr>
            <a:r>
              <a:t>Shared limitations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Less beneficial with few GPUs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Basic fault tolerance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FCFS can cause convoy effects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Batch workloads may prefer colocation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Open questions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Preemptive scheduling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Combining heterogeneous HW + placement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Million-token contexts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Interaction with MoE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A1A1A"/>
                </a:solidFill>
                <a:latin typeface="Palatino Linotype"/>
              </a:defRPr>
            </a:pPr>
            <a:r>
              <a:t>Already adopted by SGLang, vLLM, and Mooncake.</a:t>
            </a:r>
          </a:p>
          <a:p>
            <a:pPr algn="ctr">
              <a:spcBef>
                <a:spcPts val="400"/>
              </a:spcBef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Phase disaggregation is becoming the standard for production LLM serving.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Palatino Linotype"/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2860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Splitwise (ISCA 2024)</a:t>
            </a:r>
          </a:p>
          <a:p>
            <a:pPr>
              <a:spcBef>
                <a:spcPts val="8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Production workload characterization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Heterogeneous hardware per phase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1.4x throughput at 20% lower cost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or 2.35x throughput, same budget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28600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DistServe (OSDI 2024)</a:t>
            </a:r>
          </a:p>
          <a:p>
            <a:pPr>
              <a:spcBef>
                <a:spcPts val="8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Goodput-optimal placement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Automatic parallelism optimization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Up to 7.4x higher request rate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Up to 12.6x tighter SLO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2976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A1A1A"/>
                </a:solidFill>
                <a:latin typeface="Palatino Linotype"/>
              </a:defRPr>
            </a:pPr>
            <a:r>
              <a:t>Prefill and decoding are different workloads.</a:t>
            </a:r>
          </a:p>
          <a:p>
            <a:pPr algn="ctr">
              <a:spcBef>
                <a:spcPts val="400"/>
              </a:spcBef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Treating them as one wastes hardware, power, and money.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601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[1]  P. Patel, E. Choukse, C. Zhang, A. Shah, I. Goiri, S. Maleki, R. Bianchini.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"Splitwise: Efficient Generative LLM Inference Using Phase Splitting."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ISCA 2024. arXiv:2311.18677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[2]  Y. Zhong, S. Liu, J. Chen, J. Hu, Y. Zhu, X. Liu, X. Jin, H. Zhang.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"DistServe: Disaggregating Prefill and Decoding for Goodput-optimized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Large Language Model Serving."  OSDI 2024. arXiv:2401.09670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[3]  A. Agrawal et al. Sarathi: Efficient LLM Inference by Piggybacking Decodes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with Chunked Prefills. arXiv:2308.16369, 2023.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[4]  W. Kwon et al. Efficient Memory Management for Large Language Model Serving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with PagedAttention (vLLM). SOSP 2023.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[5]  Y. Sheng et al. FlexGen: High-Throughput Generative Inference of Large Language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Models with a Single GPU. ICML 2023.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88AADD"/>
                </a:solidFill>
                <a:latin typeface="Palatino Linotype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Splitwise: arXiv:2311.18677 (ISCA 2024)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DistServe: arXiv:2401.09670 (OSDI 2024)</a:t>
            </a:r>
          </a:p>
          <a:p>
            <a:pPr algn="l">
              <a:spcBef>
                <a:spcPts val="1600"/>
              </a:spcBef>
              <a:defRPr sz="1000" b="0">
                <a:solidFill>
                  <a:srgbClr val="AAAAAA"/>
                </a:solidFill>
                <a:latin typeface="Palatino Linotype"/>
              </a:defRPr>
            </a:pPr>
          </a:p>
          <a:p>
            <a:pPr algn="l">
              <a:spcBef>
                <a:spcPts val="400"/>
              </a:spcBef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Berat Celik  &amp;  Jiayang (Ethan) Chen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ECE 5545  |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6688"/>
                </a:solidFill>
                <a:latin typeface="Palatino Linotype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